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7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0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2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0319dc2de84d3b" /><Relationship Type="http://schemas.openxmlformats.org/officeDocument/2006/relationships/extended-properties" Target="/docProps/app.xml" Id="Re8921446eb4745f7" /><Relationship Type="http://schemas.openxmlformats.org/officeDocument/2006/relationships/officeDocument" Target="/ppt/presentation.xml" Id="R838418367ccc4f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27ca1680c74682"/>
  </p:sldMasterIdLst>
  <p:notesMasterIdLst>
    <p:notesMasterId xmlns:r="http://schemas.openxmlformats.org/officeDocument/2006/relationships" r:id="R27a275cfca294666"/>
  </p:notesMasterIdLst>
  <p:sldIdLst>
    <p:sldId xmlns:r="http://schemas.openxmlformats.org/officeDocument/2006/relationships" id="256" r:id="Rae0f9082a36649fc"/>
    <p:sldId xmlns:r="http://schemas.openxmlformats.org/officeDocument/2006/relationships" id="257" r:id="R9f0052146ce84a3f"/>
    <p:sldId xmlns:r="http://schemas.openxmlformats.org/officeDocument/2006/relationships" id="258" r:id="R55fc6af75fb74737"/>
    <p:sldId xmlns:r="http://schemas.openxmlformats.org/officeDocument/2006/relationships" id="259" r:id="R0f27aa4751e340e3"/>
    <p:sldId xmlns:r="http://schemas.openxmlformats.org/officeDocument/2006/relationships" id="260" r:id="Rd262c728785d4b98"/>
    <p:sldId xmlns:r="http://schemas.openxmlformats.org/officeDocument/2006/relationships" id="261" r:id="R31b12038025e4782"/>
    <p:sldId xmlns:r="http://schemas.openxmlformats.org/officeDocument/2006/relationships" id="262" r:id="Rb3f4cc53f7a84425"/>
    <p:sldId xmlns:r="http://schemas.openxmlformats.org/officeDocument/2006/relationships" id="263" r:id="R2af79e9829cf4216"/>
    <p:sldId xmlns:r="http://schemas.openxmlformats.org/officeDocument/2006/relationships" id="264" r:id="R4e947f443bb444b6"/>
    <p:sldId xmlns:r="http://schemas.openxmlformats.org/officeDocument/2006/relationships" id="265" r:id="Ra8aed730b34b41fb"/>
    <p:sldId xmlns:r="http://schemas.openxmlformats.org/officeDocument/2006/relationships" id="266" r:id="Rc6ed4146690d4bb0"/>
    <p:sldId xmlns:r="http://schemas.openxmlformats.org/officeDocument/2006/relationships" id="267" r:id="R88c363f3e474447a"/>
    <p:sldId xmlns:r="http://schemas.openxmlformats.org/officeDocument/2006/relationships" id="268" r:id="R469689e7621b4dfd"/>
    <p:sldId xmlns:r="http://schemas.openxmlformats.org/officeDocument/2006/relationships" id="269" r:id="R95a7c68a02494992"/>
    <p:sldId xmlns:r="http://schemas.openxmlformats.org/officeDocument/2006/relationships" id="270" r:id="R29044d4b146947a3"/>
    <p:sldId xmlns:r="http://schemas.openxmlformats.org/officeDocument/2006/relationships" id="271" r:id="Rc475551b5f514f9a"/>
    <p:sldId xmlns:r="http://schemas.openxmlformats.org/officeDocument/2006/relationships" id="272" r:id="R8e5095b6896b45b2"/>
    <p:sldId xmlns:r="http://schemas.openxmlformats.org/officeDocument/2006/relationships" id="273" r:id="Rb7976a7afaf64191"/>
    <p:sldId xmlns:r="http://schemas.openxmlformats.org/officeDocument/2006/relationships" id="274" r:id="R7ead6741281d4231"/>
    <p:sldId xmlns:r="http://schemas.openxmlformats.org/officeDocument/2006/relationships" id="275" r:id="R600de15101524979"/>
    <p:sldId xmlns:r="http://schemas.openxmlformats.org/officeDocument/2006/relationships" id="276" r:id="Rd4997e8b8c45476b"/>
    <p:sldId xmlns:r="http://schemas.openxmlformats.org/officeDocument/2006/relationships" id="277" r:id="R6e3b4bcf09cc4f8e"/>
    <p:sldId xmlns:r="http://schemas.openxmlformats.org/officeDocument/2006/relationships" id="278" r:id="R69e52324aa07442a"/>
    <p:sldId xmlns:r="http://schemas.openxmlformats.org/officeDocument/2006/relationships" id="279" r:id="R372a0aab7fcb4a7e"/>
    <p:sldId xmlns:r="http://schemas.openxmlformats.org/officeDocument/2006/relationships" id="280" r:id="R6f14944c3d7d4282"/>
    <p:sldId xmlns:r="http://schemas.openxmlformats.org/officeDocument/2006/relationships" id="281" r:id="R55a7e6ad07f742dc"/>
    <p:sldId xmlns:r="http://schemas.openxmlformats.org/officeDocument/2006/relationships" id="282" r:id="R719bad67f28142cd"/>
    <p:sldId xmlns:r="http://schemas.openxmlformats.org/officeDocument/2006/relationships" id="283" r:id="R87a20ebff5344330"/>
    <p:sldId xmlns:r="http://schemas.openxmlformats.org/officeDocument/2006/relationships" id="284" r:id="Rbc73ad6fd11f4831"/>
    <p:sldId xmlns:r="http://schemas.openxmlformats.org/officeDocument/2006/relationships" id="285" r:id="R67d263f0e192436a"/>
    <p:sldId xmlns:r="http://schemas.openxmlformats.org/officeDocument/2006/relationships" id="286" r:id="R976a01e728d44501"/>
    <p:sldId xmlns:r="http://schemas.openxmlformats.org/officeDocument/2006/relationships" id="287" r:id="R53129aadff5f4e44"/>
    <p:sldId xmlns:r="http://schemas.openxmlformats.org/officeDocument/2006/relationships" id="288" r:id="R99a395087c784b79"/>
    <p:sldId xmlns:r="http://schemas.openxmlformats.org/officeDocument/2006/relationships" id="289" r:id="Rd6c046fc008347e5"/>
    <p:sldId xmlns:r="http://schemas.openxmlformats.org/officeDocument/2006/relationships" id="290" r:id="Rea7fa2e6efe7435c"/>
    <p:sldId xmlns:r="http://schemas.openxmlformats.org/officeDocument/2006/relationships" id="291" r:id="R4e54c8af319243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684d2902d44960" /><Relationship Type="http://schemas.openxmlformats.org/officeDocument/2006/relationships/slideMaster" Target="/ppt/slideMasters/slideMaster1.xml" Id="Ra827ca1680c74682" /><Relationship Type="http://schemas.openxmlformats.org/officeDocument/2006/relationships/notesMaster" Target="/ppt/notesMasters/notesMaster1.xml" Id="R27a275cfca294666" /><Relationship Type="http://schemas.openxmlformats.org/officeDocument/2006/relationships/presProps" Target="/ppt/presProps.xml" Id="R21ab4f93daa845c8" /><Relationship Type="http://schemas.openxmlformats.org/officeDocument/2006/relationships/tableStyles" Target="/ppt/tableStyles.xml" Id="R87e7b676b2e842a5" /><Relationship Type="http://schemas.openxmlformats.org/officeDocument/2006/relationships/slide" Target="/ppt/slides/slide1.xml" Id="Rae0f9082a36649fc" /><Relationship Type="http://schemas.openxmlformats.org/officeDocument/2006/relationships/slide" Target="/ppt/slides/slide2.xml" Id="R9f0052146ce84a3f" /><Relationship Type="http://schemas.openxmlformats.org/officeDocument/2006/relationships/slide" Target="/ppt/slides/slide3.xml" Id="R55fc6af75fb74737" /><Relationship Type="http://schemas.openxmlformats.org/officeDocument/2006/relationships/slide" Target="/ppt/slides/slide4.xml" Id="R0f27aa4751e340e3" /><Relationship Type="http://schemas.openxmlformats.org/officeDocument/2006/relationships/slide" Target="/ppt/slides/slide5.xml" Id="Rd262c728785d4b98" /><Relationship Type="http://schemas.openxmlformats.org/officeDocument/2006/relationships/slide" Target="/ppt/slides/slide6.xml" Id="R31b12038025e4782" /><Relationship Type="http://schemas.openxmlformats.org/officeDocument/2006/relationships/slide" Target="/ppt/slides/slide7.xml" Id="Rb3f4cc53f7a84425" /><Relationship Type="http://schemas.openxmlformats.org/officeDocument/2006/relationships/slide" Target="/ppt/slides/slide8.xml" Id="R2af79e9829cf4216" /><Relationship Type="http://schemas.openxmlformats.org/officeDocument/2006/relationships/slide" Target="/ppt/slides/slide9.xml" Id="R4e947f443bb444b6" /><Relationship Type="http://schemas.openxmlformats.org/officeDocument/2006/relationships/slide" Target="/ppt/slides/slide10.xml" Id="Ra8aed730b34b41fb" /><Relationship Type="http://schemas.openxmlformats.org/officeDocument/2006/relationships/slide" Target="/ppt/slides/slide11.xml" Id="Rc6ed4146690d4bb0" /><Relationship Type="http://schemas.openxmlformats.org/officeDocument/2006/relationships/slide" Target="/ppt/slides/slide12.xml" Id="R88c363f3e474447a" /><Relationship Type="http://schemas.openxmlformats.org/officeDocument/2006/relationships/slide" Target="/ppt/slides/slide13.xml" Id="R469689e7621b4dfd" /><Relationship Type="http://schemas.openxmlformats.org/officeDocument/2006/relationships/slide" Target="/ppt/slides/slide14.xml" Id="R95a7c68a02494992" /><Relationship Type="http://schemas.openxmlformats.org/officeDocument/2006/relationships/slide" Target="/ppt/slides/slide15.xml" Id="R29044d4b146947a3" /><Relationship Type="http://schemas.openxmlformats.org/officeDocument/2006/relationships/slide" Target="/ppt/slides/slide16.xml" Id="Rc475551b5f514f9a" /><Relationship Type="http://schemas.openxmlformats.org/officeDocument/2006/relationships/slide" Target="/ppt/slides/slide17.xml" Id="R8e5095b6896b45b2" /><Relationship Type="http://schemas.openxmlformats.org/officeDocument/2006/relationships/slide" Target="/ppt/slides/slide18.xml" Id="Rb7976a7afaf64191" /><Relationship Type="http://schemas.openxmlformats.org/officeDocument/2006/relationships/slide" Target="/ppt/slides/slide19.xml" Id="R7ead6741281d4231" /><Relationship Type="http://schemas.openxmlformats.org/officeDocument/2006/relationships/slide" Target="/ppt/slides/slide20.xml" Id="R600de15101524979" /><Relationship Type="http://schemas.openxmlformats.org/officeDocument/2006/relationships/slide" Target="/ppt/slides/slide21.xml" Id="Rd4997e8b8c45476b" /><Relationship Type="http://schemas.openxmlformats.org/officeDocument/2006/relationships/slide" Target="/ppt/slides/slide22.xml" Id="R6e3b4bcf09cc4f8e" /><Relationship Type="http://schemas.openxmlformats.org/officeDocument/2006/relationships/slide" Target="/ppt/slides/slide23.xml" Id="R69e52324aa07442a" /><Relationship Type="http://schemas.openxmlformats.org/officeDocument/2006/relationships/slide" Target="/ppt/slides/slide24.xml" Id="R372a0aab7fcb4a7e" /><Relationship Type="http://schemas.openxmlformats.org/officeDocument/2006/relationships/slide" Target="/ppt/slides/slide25.xml" Id="R6f14944c3d7d4282" /><Relationship Type="http://schemas.openxmlformats.org/officeDocument/2006/relationships/slide" Target="/ppt/slides/slide26.xml" Id="R55a7e6ad07f742dc" /><Relationship Type="http://schemas.openxmlformats.org/officeDocument/2006/relationships/slide" Target="/ppt/slides/slide27.xml" Id="R719bad67f28142cd" /><Relationship Type="http://schemas.openxmlformats.org/officeDocument/2006/relationships/slide" Target="/ppt/slides/slide28.xml" Id="R87a20ebff5344330" /><Relationship Type="http://schemas.openxmlformats.org/officeDocument/2006/relationships/slide" Target="/ppt/slides/slide29.xml" Id="Rbc73ad6fd11f4831" /><Relationship Type="http://schemas.openxmlformats.org/officeDocument/2006/relationships/slide" Target="/ppt/slides/slide30.xml" Id="R67d263f0e192436a" /><Relationship Type="http://schemas.openxmlformats.org/officeDocument/2006/relationships/slide" Target="/ppt/slides/slide31.xml" Id="R976a01e728d44501" /><Relationship Type="http://schemas.openxmlformats.org/officeDocument/2006/relationships/slide" Target="/ppt/slides/slide32.xml" Id="R53129aadff5f4e44" /><Relationship Type="http://schemas.openxmlformats.org/officeDocument/2006/relationships/slide" Target="/ppt/slides/slide33.xml" Id="R99a395087c784b79" /><Relationship Type="http://schemas.openxmlformats.org/officeDocument/2006/relationships/slide" Target="/ppt/slides/slide34.xml" Id="Rd6c046fc008347e5" /><Relationship Type="http://schemas.openxmlformats.org/officeDocument/2006/relationships/slide" Target="/ppt/slides/slide35.xml" Id="Rea7fa2e6efe7435c" /><Relationship Type="http://schemas.openxmlformats.org/officeDocument/2006/relationships/slide" Target="/ppt/slides/slide36.xml" Id="R4e54c8af319243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7f136940184c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879204e8244e43" /><Relationship Type="http://schemas.openxmlformats.org/officeDocument/2006/relationships/notesMaster" Target="/ppt/notesMasters/notesMaster1.xml" Id="R79d554d5023b49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4bf72be88d4f79" /><Relationship Type="http://schemas.openxmlformats.org/officeDocument/2006/relationships/notesMaster" Target="/ppt/notesMasters/notesMaster1.xml" Id="R76affb0f4fa444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33f8059bf54d6a" /><Relationship Type="http://schemas.openxmlformats.org/officeDocument/2006/relationships/notesMaster" Target="/ppt/notesMasters/notesMaster1.xml" Id="Re6605815263943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d0826b16e3487c" /><Relationship Type="http://schemas.openxmlformats.org/officeDocument/2006/relationships/notesMaster" Target="/ppt/notesMasters/notesMaster1.xml" Id="R9be30722c90c46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c2316af8a54563" /><Relationship Type="http://schemas.openxmlformats.org/officeDocument/2006/relationships/notesMaster" Target="/ppt/notesMasters/notesMaster1.xml" Id="Rb528493b3ae24b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bfdd2f5b1a4417" /><Relationship Type="http://schemas.openxmlformats.org/officeDocument/2006/relationships/notesMaster" Target="/ppt/notesMasters/notesMaster1.xml" Id="R367b06508e124f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97100aff9545db" /><Relationship Type="http://schemas.openxmlformats.org/officeDocument/2006/relationships/notesMaster" Target="/ppt/notesMasters/notesMaster1.xml" Id="R71b6f2be89da48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064c45d33f411c" /><Relationship Type="http://schemas.openxmlformats.org/officeDocument/2006/relationships/notesMaster" Target="/ppt/notesMasters/notesMaster1.xml" Id="Ra09d1b8f135b4f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8ec70080d54eab" /><Relationship Type="http://schemas.openxmlformats.org/officeDocument/2006/relationships/notesMaster" Target="/ppt/notesMasters/notesMaster1.xml" Id="R3f4d67647c1e4e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30066641cb4ea4" /><Relationship Type="http://schemas.openxmlformats.org/officeDocument/2006/relationships/notesMaster" Target="/ppt/notesMasters/notesMaster1.xml" Id="R5bfb5363c2b649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49066df514466a" /><Relationship Type="http://schemas.openxmlformats.org/officeDocument/2006/relationships/notesMaster" Target="/ppt/notesMasters/notesMaster1.xml" Id="R180ecc94e6b341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c59b9b410b4e12" /><Relationship Type="http://schemas.openxmlformats.org/officeDocument/2006/relationships/notesMaster" Target="/ppt/notesMasters/notesMaster1.xml" Id="R0f0faef8258940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4de51e20454ebd" /><Relationship Type="http://schemas.openxmlformats.org/officeDocument/2006/relationships/notesMaster" Target="/ppt/notesMasters/notesMaster1.xml" Id="Rc439fa50e5ce445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c61e98883a4dc5" /><Relationship Type="http://schemas.openxmlformats.org/officeDocument/2006/relationships/notesMaster" Target="/ppt/notesMasters/notesMaster1.xml" Id="Rf655457c6c0044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c3150dc9ad48bc" /><Relationship Type="http://schemas.openxmlformats.org/officeDocument/2006/relationships/notesMaster" Target="/ppt/notesMasters/notesMaster1.xml" Id="Rfed913e2194d45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155c5f778142e4" /><Relationship Type="http://schemas.openxmlformats.org/officeDocument/2006/relationships/notesMaster" Target="/ppt/notesMasters/notesMaster1.xml" Id="Re961c33eadab4f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14ca92217f4501" /><Relationship Type="http://schemas.openxmlformats.org/officeDocument/2006/relationships/notesMaster" Target="/ppt/notesMasters/notesMaster1.xml" Id="Rb9737ebaad7f4db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5527340c5544ea" /><Relationship Type="http://schemas.openxmlformats.org/officeDocument/2006/relationships/notesMaster" Target="/ppt/notesMasters/notesMaster1.xml" Id="Re8c64a6e5f7347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49c8a8a64c4030" /><Relationship Type="http://schemas.openxmlformats.org/officeDocument/2006/relationships/notesMaster" Target="/ppt/notesMasters/notesMaster1.xml" Id="R82bdf6568642413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d8e677b99174633" /><Relationship Type="http://schemas.openxmlformats.org/officeDocument/2006/relationships/notesMaster" Target="/ppt/notesMasters/notesMaster1.xml" Id="R04c35744483144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dd5bd3316144188" /><Relationship Type="http://schemas.openxmlformats.org/officeDocument/2006/relationships/notesMaster" Target="/ppt/notesMasters/notesMaster1.xml" Id="R81b078f1ec2c407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f0d9196dcbe466f" /><Relationship Type="http://schemas.openxmlformats.org/officeDocument/2006/relationships/notesMaster" Target="/ppt/notesMasters/notesMaster1.xml" Id="R0a1efd49e4c24f7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6f372418e854be6" /><Relationship Type="http://schemas.openxmlformats.org/officeDocument/2006/relationships/notesMaster" Target="/ppt/notesMasters/notesMaster1.xml" Id="Rd6522c1fcf4f4a3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520d7c944e34504" /><Relationship Type="http://schemas.openxmlformats.org/officeDocument/2006/relationships/notesMaster" Target="/ppt/notesMasters/notesMaster1.xml" Id="R875cba193ba744a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8a720270aa94fb5" /><Relationship Type="http://schemas.openxmlformats.org/officeDocument/2006/relationships/notesMaster" Target="/ppt/notesMasters/notesMaster1.xml" Id="R8207ddda81224a8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65e3fb857194036" /><Relationship Type="http://schemas.openxmlformats.org/officeDocument/2006/relationships/notesMaster" Target="/ppt/notesMasters/notesMaster1.xml" Id="R05ef2c09bb794d5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550f31537d544c6" /><Relationship Type="http://schemas.openxmlformats.org/officeDocument/2006/relationships/notesMaster" Target="/ppt/notesMasters/notesMaster1.xml" Id="R3ae43bb0a9d7463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37a0df833b04cdb" /><Relationship Type="http://schemas.openxmlformats.org/officeDocument/2006/relationships/notesMaster" Target="/ppt/notesMasters/notesMaster1.xml" Id="R992b977f9a45466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a2279c236a44e79" /><Relationship Type="http://schemas.openxmlformats.org/officeDocument/2006/relationships/notesMaster" Target="/ppt/notesMasters/notesMaster1.xml" Id="R24ed6e748510403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cf7acc409734121" /><Relationship Type="http://schemas.openxmlformats.org/officeDocument/2006/relationships/notesMaster" Target="/ppt/notesMasters/notesMaster1.xml" Id="Rc80ca2a29dd24e4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71d9dd9d4ce4068" /><Relationship Type="http://schemas.openxmlformats.org/officeDocument/2006/relationships/notesMaster" Target="/ppt/notesMasters/notesMaster1.xml" Id="Rbc31f2c297744b2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422bc8bf12c43ea" /><Relationship Type="http://schemas.openxmlformats.org/officeDocument/2006/relationships/notesMaster" Target="/ppt/notesMasters/notesMaster1.xml" Id="R9a039a6c79ea4c3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8fe48b9902a44bd" /><Relationship Type="http://schemas.openxmlformats.org/officeDocument/2006/relationships/notesMaster" Target="/ppt/notesMasters/notesMaster1.xml" Id="R964bed855333456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71f98effdba4d8f" /><Relationship Type="http://schemas.openxmlformats.org/officeDocument/2006/relationships/notesMaster" Target="/ppt/notesMasters/notesMaster1.xml" Id="Rb9cf724bc93e4ca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353725d65a241f5" /><Relationship Type="http://schemas.openxmlformats.org/officeDocument/2006/relationships/notesMaster" Target="/ppt/notesMasters/notesMaster1.xml" Id="R72d5149d809c414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fdb76baea2a4155" /><Relationship Type="http://schemas.openxmlformats.org/officeDocument/2006/relationships/notesMaster" Target="/ppt/notesMasters/notesMaster1.xml" Id="Rd169818e0e2c43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신규 패션 브랜드의 서울 상권 분석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2021~2025년 일반의류·가방. 데이터 처리부터 상권별 상품 전개 가설까지.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프로젝트 EDA 및 기획 기록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사업 질문과 보고서 읽는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10평 미만 팝업 가정. 실제 재고 수량·사이즈·색상 배분은 이번 범위에서 제외.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프로젝트 EDA 및 기획 기록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원자료 보존과 분석 대상의 변화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한 행은 상권×업종×분기. 학습 제외는 EDA 자료 삭제가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02_처리단계별_행수.csv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연도별 관측 범위와 연간 완비 상권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관측 상권 수가 해마다 달라집니다. 가방은 특히 표본이 작습니다.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05_EDA_연도별품질.csv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결측을 0으로 채우지 않습니다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EDA: 결측 보존·변수별 비교 제외. 모델: 훈련 구간 중앙값 대체와 결측 표시. 인구는 업종별 행에 반복됩니다.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05_EDA_연도별품질.csv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결합 키와 비교 집단을 분리합니다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고정 패널은 신규·미관측 상권을 제외합니다. 전체 서울 시장 성장률로 일반화하지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프로젝트 EDA 및 기획 기록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일반의류 · 동일 상권의 5년 매출 변화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2021=100 지수. 2021년은 비교 시작점이며 정상 수요 기준이나 코로나 이전 기준이 아닙니다. 물가 미조정.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07_EDA_고정상권_연도매출.csv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가방 · 동일 상권의 5년 매출 변화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2021=100 지수. 2021년은 비교 시작점이며 정상 수요 기준이나 코로나 이전 기준이 아닙니다. 물가 미조정.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07_EDA_고정상권_연도매출.csv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2021년 매출 규모와 소비 연령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매출 대비 비중. 연령 합계를 100%로 재정규화하지 않으며, 잔차를 외국인 매출로 단정하지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고정 20분기 원자료 재집계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2022년 매출 규모와 소비 연령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매출 대비 비중. 연령 합계를 100%로 재정규화하지 않으며, 잔차를 외국인 매출로 단정하지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고정 20분기 원자료 재집계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2023년 매출 규모와 소비 연령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매출 대비 비중. 연령 합계를 100%로 재정규화하지 않으며, 잔차를 외국인 매출로 단정하지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고정 20분기 원자료 재집계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2024년 매출 규모와 소비 연령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매출 대비 비중. 연령 합계를 100%로 재정규화하지 않으며, 잔차를 외국인 매출로 단정하지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고정 20분기 원자료 재집계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2025년 매출 규모와 소비 연령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매출 대비 비중. 연령 합계를 100%로 재정규화하지 않으며, 잔차를 외국인 매출로 단정하지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고정 20분기 원자료 재집계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2025년 매출 분포 · 작은 상권과 큰 상권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가로축 log10(1+연간 매출 억원), 세로축 상권 수. 4분기 완비 상권, 자동 이상치 삭제 없음.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환경 결합 원자료의 연간 합계 재집계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동일 유형의 매출 박스플롯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억원, 0.1억 이상 로그 눈금. 상자=Q1~Q3, 선=중앙값, 수염=1.5 IQR 이내, 점=범위 밖 관측값. 작은 표본 주의.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06_EDA_매출분포요약.csv 및 원자료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평균·중앙값·표본 수를 함께 봅니다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상한 초과는 오류 판정이 아닙니다. 큰 상권의 매출이 평균을 높이는 구조를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06_EDA_매출분포요약.csv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환경과 매출의 관계 · 순위상관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2025Q4 같은 업종·유형 내부 비교. -1~+1 지표이며 인과관계·구매 전환율이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09_EDA_환경과매출_순위상관.csv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EDA가 상품 기획에 주는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상권 업종 매출을 신규 브랜드 매출이나 최적 스타일 수로 치환하지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프로젝트 EDA 및 기획 기록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매출 예측 모델 · 26개 입력, 두 은닉층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MLP 회귀. 출력 ln(목표 매출/전년 동분기 매출), 지수 변환 후 매출 환산. 신규 브랜드 매출 예측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프로젝트 EDA 및 기획 기록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26개를 어떻게 구성했는가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숫자 입력 log1p 후 훈련 구간 기준 대체·표준화. 상권 이름·후보 여부·미래 매출은 입력 제외.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프로젝트 EDA 및 기획 기록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8개 평가 분기와 학습 범위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입력과 훈련 정답은 t-2까지. 실제 공개일·과거 개정본 검증은 미완료. 2024 선택, 2025 탐색 평가.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10_모델_시계열분할.csv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훈련 손실은 줄지만 평가 성능은 별개입니다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2025Q4 모델 훈련 손실. Adam lr=0.001, L2=0.001, 100·250회 비교, 시드 17·83·131. 25회 간격의 전체 기록값 표시.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20261019_환경결합딥러닝/05_학습곡선.csv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일반의류 · 2025년 동일 평가행의 모델 오차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WAPE(%), 낮을수록 좋음. Σ|예측−실제| ÷ Σ실제 × 100. 큰 매출 상권의 영향을 많이 받습니다.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04_원예측으로_재계산한지표.csv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가방 · 2025년 동일 평가행의 모델 오차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WAPE(%), 낮을수록 좋음. Σ|예측−실제| ÷ Σ실제 × 100. 큰 매출 상권의 영향을 많이 받습니다.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04_원예측으로_재계산한지표.csv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 설정선택 · 전체 성능 지표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MAE=평균 절대오차. 중앙 APE=상권별 절대백분율오차의 중앙값. 편향=(예측합/실제합−1)×100.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04_원예측으로_재계산한지표.csv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2025 탐색평가 · 전체 성능 지표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MAE=평균 절대오차. 중앙 APE=상권별 절대백분율오차의 중앙값. 편향=(예측합/실제합−1)×100.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04_원예측으로_재계산한지표.csv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후속 모델 선택 결과와 해석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의류는 단순 모델 선택. 가방 혼합은 2025년 기준보다 악화. 신경망 우월성 미확인.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20261019_본부장보고_재검증/02_선택결과.csv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재현 검증과 확인 범위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재현 일치는 계산 재현성을 뜻하며 미래 예측 정확도를 보증하지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재현검증_전체재학습.json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비교 4곳과 성장 조사 2곳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서울 전체 관측 자료에서 비교한 후보입니다. 입점 확정이나 경쟁사 공백 입증은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20261020_판단근거보강/09_상품전개_판단근거.csv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상권별 근거와 반대 근거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매출·거래 변화는 기존 후보표의 2024~2025 비교. 단위 상권 코드 기준이며 주변 권역 전체를 대표하지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09_상품전개_판단근거.csv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상권별 근거와 반대 근거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매출·거래 변화는 기존 후보표의 2024~2025 비교. 단위 상권 코드 기준이며 주변 권역 전체를 대표하지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09_상품전개_판단근거.csv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상권별 근거와 반대 근거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매출·거래 변화는 기존 후보표의 2024~2025 비교. 단위 상권 코드 기준이며 주변 권역 전체를 대표하지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09_상품전개_판단근거.csv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회복 판정은 매출·유동을 함께 확인합니다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20분기 완비·과거 감소·최근 매출 및 유동 성장·각 3/4분기 증가를 함께 봅니다. 기준 강도에 따라 판정이 달라집니다.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05_후보별_회복재검산.csv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상권별 스타일 구성은 실행 전 비교안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매출 비중을 스타일 수로 환산한 결과가 아닙니다. 10평 미만에서 20스타일 수용 여부도 미확인.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프로젝트 EDA 및 기획 기록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진입 판단을 좁히기 위한 다음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실제 판매 실험은 현재 불가. 기존 상권 자료만으로 수익성·브랜드 매출을 확정하지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프로젝트 EDA 및 기획 기록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출처·한계·최종 결론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상세 표와 검증 기록은 EDA·모델링 보고서 및 프로젝트 근거자료 폴더에 보존합니다.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프로젝트 EDA 및 기획 기록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a047f563244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19a6ee01e43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56ce4454d43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08a4c523c4f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4373bfc844f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31d4e31db4b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6B476F-8862-49E5-BF00-F808408029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5BF21B-DEC6-4D19-8F95-0C0E4A3725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804BBFC-3E6E-4370-B5B5-4694CDDA55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858127-BAEC-47F3-B733-03EDCC579A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998710E-4030-4C2E-AEBB-5AE895E917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FA1CC2-F835-49FE-8DBD-D49E4BE49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099EAC-C8F1-4FAE-B8B0-43D926B114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D334BD-B8F5-4562-AC7A-1044E538F6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13F3B8-692E-4021-8599-F9408C88BA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2CCBB5-2B39-4418-88ED-8424353526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a257af489e430d" /><Relationship Type="http://schemas.openxmlformats.org/officeDocument/2006/relationships/slideLayout" Target="/ppt/slideLayouts/slideLayout1.xml" Id="Rcdfb09c2fef749ab" /><Relationship Type="http://schemas.openxmlformats.org/officeDocument/2006/relationships/slideLayout" Target="/ppt/slideLayouts/slideLayout2.xml" Id="R8cacf7120de04528" /><Relationship Type="http://schemas.openxmlformats.org/officeDocument/2006/relationships/slideLayout" Target="/ppt/slideLayouts/slideLayout3.xml" Id="Rfeb17bcaa5084279" /><Relationship Type="http://schemas.openxmlformats.org/officeDocument/2006/relationships/slideLayout" Target="/ppt/slideLayouts/slideLayout4.xml" Id="Rf5168002328442b5" /><Relationship Type="http://schemas.openxmlformats.org/officeDocument/2006/relationships/slideLayout" Target="/ppt/slideLayouts/slideLayout5.xml" Id="Ra7ffacbabfd947f6" /><Relationship Type="http://schemas.openxmlformats.org/officeDocument/2006/relationships/slideLayout" Target="/ppt/slideLayouts/slideLayout6.xml" Id="Re9adaf556c9b4c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fb09c2fef749ab"/>
    <p:sldLayoutId xmlns:r="http://schemas.openxmlformats.org/officeDocument/2006/relationships" id="2147483650" r:id="R8cacf7120de04528"/>
    <p:sldLayoutId xmlns:r="http://schemas.openxmlformats.org/officeDocument/2006/relationships" id="2147483651" r:id="Rfeb17bcaa5084279"/>
    <p:sldLayoutId xmlns:r="http://schemas.openxmlformats.org/officeDocument/2006/relationships" id="2147483652" r:id="Rf5168002328442b5"/>
    <p:sldLayoutId xmlns:r="http://schemas.openxmlformats.org/officeDocument/2006/relationships" id="2147483653" r:id="Ra7ffacbabfd947f6"/>
    <p:sldLayoutId xmlns:r="http://schemas.openxmlformats.org/officeDocument/2006/relationships" id="2147483654" r:id="Re9adaf556c9b4c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6d83482bc2450b" /><Relationship Type="http://schemas.openxmlformats.org/officeDocument/2006/relationships/notesSlide" Target="/ppt/notesSlides/notesSlide1.xml" Id="R13659f6deb5c4a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891ea9f404255" /><Relationship Type="http://schemas.openxmlformats.org/officeDocument/2006/relationships/notesSlide" Target="/ppt/notesSlides/notesSlide2.xml" Id="R790bf9f463d740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220b55c8ab4604" /><Relationship Type="http://schemas.openxmlformats.org/officeDocument/2006/relationships/notesSlide" Target="/ppt/notesSlides/notesSlide3.xml" Id="R7af226c8d91e4d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55a2b308294365" /><Relationship Type="http://schemas.openxmlformats.org/officeDocument/2006/relationships/notesSlide" Target="/ppt/notesSlides/notesSlide4.xml" Id="Rbebb53db025e40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b17c7059964279" /><Relationship Type="http://schemas.openxmlformats.org/officeDocument/2006/relationships/notesSlide" Target="/ppt/notesSlides/notesSlide5.xml" Id="R778cdc92d0574b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3c17ee675b49f7" /><Relationship Type="http://schemas.openxmlformats.org/officeDocument/2006/relationships/notesSlide" Target="/ppt/notesSlides/notesSlide6.xml" Id="Rda871f0985224a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6ea076eb814c3f" /><Relationship Type="http://schemas.openxmlformats.org/officeDocument/2006/relationships/chart" Target="/ppt/slides/charts/chart1.xml" Id="R68330bf5004449cc" /><Relationship Type="http://schemas.openxmlformats.org/officeDocument/2006/relationships/notesSlide" Target="/ppt/notesSlides/notesSlide7.xml" Id="R761894ee524545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6fa359d377407a" /><Relationship Type="http://schemas.openxmlformats.org/officeDocument/2006/relationships/chart" Target="/ppt/slides/charts/chart2.xml" Id="Rff0116cceec04a34" /><Relationship Type="http://schemas.openxmlformats.org/officeDocument/2006/relationships/notesSlide" Target="/ppt/notesSlides/notesSlide8.xml" Id="Re288b4d075e943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aca1a7fa9045c1" /><Relationship Type="http://schemas.openxmlformats.org/officeDocument/2006/relationships/chart" Target="/ppt/slides/charts/chart3.xml" Id="Rf0f2a498933441f1" /><Relationship Type="http://schemas.openxmlformats.org/officeDocument/2006/relationships/notesSlide" Target="/ppt/notesSlides/notesSlide9.xml" Id="R996254581d7b4b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c5454f26634b3e" /><Relationship Type="http://schemas.openxmlformats.org/officeDocument/2006/relationships/chart" Target="/ppt/slides/charts/chart4.xml" Id="Ra3e70bf98d8e409a" /><Relationship Type="http://schemas.openxmlformats.org/officeDocument/2006/relationships/notesSlide" Target="/ppt/notesSlides/notesSlide10.xml" Id="R80ac52e3ddce48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d3b4df74d34604" /><Relationship Type="http://schemas.openxmlformats.org/officeDocument/2006/relationships/chart" Target="/ppt/slides/charts/chart5.xml" Id="Ra7b6bc8f78194d12" /><Relationship Type="http://schemas.openxmlformats.org/officeDocument/2006/relationships/notesSlide" Target="/ppt/notesSlides/notesSlide11.xml" Id="R0ab3afdb2a4c40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67b60bac9c4e7a" /><Relationship Type="http://schemas.openxmlformats.org/officeDocument/2006/relationships/chart" Target="/ppt/slides/charts/chart6.xml" Id="R0e5e84ea30b449fb" /><Relationship Type="http://schemas.openxmlformats.org/officeDocument/2006/relationships/notesSlide" Target="/ppt/notesSlides/notesSlide12.xml" Id="Re50401d946bf40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7f1703f0af4866" /><Relationship Type="http://schemas.openxmlformats.org/officeDocument/2006/relationships/chart" Target="/ppt/slides/charts/chart7.xml" Id="Rd7cb153fc6084b80" /><Relationship Type="http://schemas.openxmlformats.org/officeDocument/2006/relationships/notesSlide" Target="/ppt/notesSlides/notesSlide13.xml" Id="R3e6ca31861e74b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f27efb3a6e4ce4" /><Relationship Type="http://schemas.openxmlformats.org/officeDocument/2006/relationships/chart" Target="/ppt/slides/charts/chart8.xml" Id="R47d4a55545c941f8" /><Relationship Type="http://schemas.openxmlformats.org/officeDocument/2006/relationships/chart" Target="/ppt/slides/charts/chart9.xml" Id="Re349a1a777164c55" /><Relationship Type="http://schemas.openxmlformats.org/officeDocument/2006/relationships/notesSlide" Target="/ppt/notesSlides/notesSlide14.xml" Id="Rb89c4841e3364f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986e23ab894deb" /><Relationship Type="http://schemas.openxmlformats.org/officeDocument/2006/relationships/notesSlide" Target="/ppt/notesSlides/notesSlide15.xml" Id="Rc43a60d9f55040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aaecee7c14c13" /><Relationship Type="http://schemas.openxmlformats.org/officeDocument/2006/relationships/notesSlide" Target="/ppt/notesSlides/notesSlide16.xml" Id="R0cae6ede7470444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23c0202acb4826" /><Relationship Type="http://schemas.openxmlformats.org/officeDocument/2006/relationships/notesSlide" Target="/ppt/notesSlides/notesSlide17.xml" Id="R2d58d0727e84457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4a658eae345ed" /><Relationship Type="http://schemas.openxmlformats.org/officeDocument/2006/relationships/notesSlide" Target="/ppt/notesSlides/notesSlide18.xml" Id="R89415390d22d43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c46270cf234fef" /><Relationship Type="http://schemas.openxmlformats.org/officeDocument/2006/relationships/notesSlide" Target="/ppt/notesSlides/notesSlide19.xml" Id="R2da393b26b5a4d6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dfc03b137f4e39" /><Relationship Type="http://schemas.openxmlformats.org/officeDocument/2006/relationships/notesSlide" Target="/ppt/notesSlides/notesSlide20.xml" Id="Rb20a4f3115fa43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40f0142494bef" /><Relationship Type="http://schemas.openxmlformats.org/officeDocument/2006/relationships/notesSlide" Target="/ppt/notesSlides/notesSlide21.xml" Id="R9a7d69b87cd2410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7e09022776461a" /><Relationship Type="http://schemas.openxmlformats.org/officeDocument/2006/relationships/chart" Target="/ppt/slides/charts/chart10.xml" Id="R1fc3a538906b4466" /><Relationship Type="http://schemas.openxmlformats.org/officeDocument/2006/relationships/notesSlide" Target="/ppt/notesSlides/notesSlide22.xml" Id="Rfddac374660945c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5ba95acdb04da3" /><Relationship Type="http://schemas.openxmlformats.org/officeDocument/2006/relationships/chart" Target="/ppt/slides/charts/chart11.xml" Id="R7b5cd135c7e4492d" /><Relationship Type="http://schemas.openxmlformats.org/officeDocument/2006/relationships/notesSlide" Target="/ppt/notesSlides/notesSlide23.xml" Id="R47c4cc51c96b444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43b38375c468f" /><Relationship Type="http://schemas.openxmlformats.org/officeDocument/2006/relationships/chart" Target="/ppt/slides/charts/chart12.xml" Id="Rdc812c20326d46cf" /><Relationship Type="http://schemas.openxmlformats.org/officeDocument/2006/relationships/notesSlide" Target="/ppt/notesSlides/notesSlide24.xml" Id="Rcebb72cfb9db4b4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355845293c4d81" /><Relationship Type="http://schemas.openxmlformats.org/officeDocument/2006/relationships/notesSlide" Target="/ppt/notesSlides/notesSlide25.xml" Id="Rba359bd5fc304ce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302fe90b624df0" /><Relationship Type="http://schemas.openxmlformats.org/officeDocument/2006/relationships/notesSlide" Target="/ppt/notesSlides/notesSlide26.xml" Id="Rc65b489ffcbd47a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750399dcb74961" /><Relationship Type="http://schemas.openxmlformats.org/officeDocument/2006/relationships/notesSlide" Target="/ppt/notesSlides/notesSlide27.xml" Id="R3687dbbe3f424d8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4967cf31f47ac" /><Relationship Type="http://schemas.openxmlformats.org/officeDocument/2006/relationships/notesSlide" Target="/ppt/notesSlides/notesSlide28.xml" Id="Rfa6fdfff66b64e0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5829d5c614333" /><Relationship Type="http://schemas.openxmlformats.org/officeDocument/2006/relationships/notesSlide" Target="/ppt/notesSlides/notesSlide29.xml" Id="Rcc8eceb98ad04e6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61d88e385d41c4" /><Relationship Type="http://schemas.openxmlformats.org/officeDocument/2006/relationships/notesSlide" Target="/ppt/notesSlides/notesSlide30.xml" Id="R557f98c466d0497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3cd4dd1e074c3b" /><Relationship Type="http://schemas.openxmlformats.org/officeDocument/2006/relationships/notesSlide" Target="/ppt/notesSlides/notesSlide31.xml" Id="R1a9f67ee6fbc413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62cb4e67664237" /><Relationship Type="http://schemas.openxmlformats.org/officeDocument/2006/relationships/notesSlide" Target="/ppt/notesSlides/notesSlide32.xml" Id="Rf625b240ea3a468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77181d5c74597" /><Relationship Type="http://schemas.openxmlformats.org/officeDocument/2006/relationships/notesSlide" Target="/ppt/notesSlides/notesSlide33.xml" Id="R2094ff52ec32404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bb8ebff2f647d5" /><Relationship Type="http://schemas.openxmlformats.org/officeDocument/2006/relationships/notesSlide" Target="/ppt/notesSlides/notesSlide34.xml" Id="R1d0801e315d041f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ecd363d53e4bfa" /><Relationship Type="http://schemas.openxmlformats.org/officeDocument/2006/relationships/notesSlide" Target="/ppt/notesSlides/notesSlide35.xml" Id="Ree70268379fa4b3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6d36d647c8445c" /><Relationship Type="http://schemas.openxmlformats.org/officeDocument/2006/relationships/notesSlide" Target="/ppt/notesSlides/notesSlide36.xml" Id="R5bf1c0b520034eb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골목상권</c:v>
          </c:tx>
          <c:spPr>
            <a:solidFill xmlns:a="http://schemas.openxmlformats.org/drawingml/2006/main">
              <a:srgbClr val="365F82"/>
            </a:solidFill>
          </c:spPr>
          <c:marker>
            <c:symbol val="none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100</c:v>
                </c:pt>
                <c:pt idx="1">
                  <c:v>130.692</c:v>
                </c:pt>
                <c:pt idx="2">
                  <c:v>137.704</c:v>
                </c:pt>
                <c:pt idx="3">
                  <c:v>124.286</c:v>
                </c:pt>
                <c:pt idx="4">
                  <c:v>119.258</c:v>
                </c:pt>
              </c:numCache>
            </c:numRef>
          </c:val>
          <c:smooth val="0"/>
        </c:ser>
        <c:ser>
          <c:idx val="1"/>
          <c:order val="1"/>
          <c:tx>
            <c:v>발달상권</c:v>
          </c:tx>
          <c:spPr>
            <a:solidFill xmlns:a="http://schemas.openxmlformats.org/drawingml/2006/main">
              <a:srgbClr val="658EB0"/>
            </a:solidFill>
          </c:spPr>
          <c:marker>
            <c:symbol val="none"/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100</c:v>
                </c:pt>
                <c:pt idx="1">
                  <c:v>96.479</c:v>
                </c:pt>
                <c:pt idx="2">
                  <c:v>103.216</c:v>
                </c:pt>
                <c:pt idx="3">
                  <c:v>107.688</c:v>
                </c:pt>
                <c:pt idx="4">
                  <c:v>104.683</c:v>
                </c:pt>
              </c:numCache>
            </c:numRef>
          </c:val>
          <c:smooth val="0"/>
        </c:ser>
        <c:ser>
          <c:idx val="2"/>
          <c:order val="2"/>
          <c:tx>
            <c:v>전통시장</c:v>
          </c:tx>
          <c:spPr>
            <a:solidFill xmlns:a="http://schemas.openxmlformats.org/drawingml/2006/main">
              <a:srgbClr val="43A7A7"/>
            </a:solidFill>
          </c:spPr>
          <c:marker>
            <c:symbol val="none"/>
          </c:marker>
          <c:cat>
            <c:numRef>
              <c:f>'Chart Data'!$E$2:$E$6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100</c:v>
                </c:pt>
                <c:pt idx="1">
                  <c:v>106.103</c:v>
                </c:pt>
                <c:pt idx="2">
                  <c:v>103.657</c:v>
                </c:pt>
                <c:pt idx="3">
                  <c:v>98.141</c:v>
                </c:pt>
                <c:pt idx="4">
                  <c:v>103.68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골목상권</c:v>
          </c:tx>
          <c:spPr>
            <a:solidFill xmlns:a="http://schemas.openxmlformats.org/drawingml/2006/main">
              <a:srgbClr val="365F82"/>
            </a:solidFill>
          </c:spPr>
          <c:marker>
            <c:symbol val="none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100</c:v>
                </c:pt>
                <c:pt idx="1">
                  <c:v>131.615</c:v>
                </c:pt>
                <c:pt idx="2">
                  <c:v>106.458</c:v>
                </c:pt>
                <c:pt idx="3">
                  <c:v>126.43</c:v>
                </c:pt>
                <c:pt idx="4">
                  <c:v>75.287</c:v>
                </c:pt>
              </c:numCache>
            </c:numRef>
          </c:val>
          <c:smooth val="0"/>
        </c:ser>
        <c:ser>
          <c:idx val="1"/>
          <c:order val="1"/>
          <c:tx>
            <c:v>발달상권</c:v>
          </c:tx>
          <c:spPr>
            <a:solidFill xmlns:a="http://schemas.openxmlformats.org/drawingml/2006/main">
              <a:srgbClr val="658EB0"/>
            </a:solidFill>
          </c:spPr>
          <c:marker>
            <c:symbol val="none"/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100</c:v>
                </c:pt>
                <c:pt idx="1">
                  <c:v>116.442</c:v>
                </c:pt>
                <c:pt idx="2">
                  <c:v>106.03</c:v>
                </c:pt>
                <c:pt idx="3">
                  <c:v>108.761</c:v>
                </c:pt>
                <c:pt idx="4">
                  <c:v>103.573</c:v>
                </c:pt>
              </c:numCache>
            </c:numRef>
          </c:val>
          <c:smooth val="0"/>
        </c:ser>
        <c:ser>
          <c:idx val="2"/>
          <c:order val="2"/>
          <c:tx>
            <c:v>전통시장</c:v>
          </c:tx>
          <c:spPr>
            <a:solidFill xmlns:a="http://schemas.openxmlformats.org/drawingml/2006/main">
              <a:srgbClr val="43A7A7"/>
            </a:solidFill>
          </c:spPr>
          <c:marker>
            <c:symbol val="none"/>
          </c:marker>
          <c:cat>
            <c:numRef>
              <c:f>'Chart Data'!$E$2:$E$6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100</c:v>
                </c:pt>
                <c:pt idx="1">
                  <c:v>88.047</c:v>
                </c:pt>
                <c:pt idx="2">
                  <c:v>163.063</c:v>
                </c:pt>
                <c:pt idx="3">
                  <c:v>150.788</c:v>
                </c:pt>
                <c:pt idx="4">
                  <c:v>153.411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10대</c:v>
          </c:tx>
          <c:spPr>
            <a:solidFill xmlns:a="http://schemas.openxmlformats.org/drawingml/2006/main">
              <a:srgbClr val="365F82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0.262131041244</c:v>
                </c:pt>
                <c:pt idx="1">
                  <c:v>0.569124588645</c:v>
                </c:pt>
                <c:pt idx="2">
                  <c:v>0.932464711365</c:v>
                </c:pt>
                <c:pt idx="3">
                  <c:v>0</c:v>
                </c:pt>
                <c:pt idx="4">
                  <c:v>0.560178112125</c:v>
                </c:pt>
                <c:pt idx="5">
                  <c:v>1.00116383296</c:v>
                </c:pt>
              </c:numCache>
            </c:numRef>
          </c:val>
        </c:ser>
        <c:ser>
          <c:idx val="1"/>
          <c:order val="1"/>
          <c:tx>
            <c:v>20대</c:v>
          </c:tx>
          <c:spPr>
            <a:solidFill xmlns:a="http://schemas.openxmlformats.org/drawingml/2006/main">
              <a:srgbClr val="658EB0"/>
            </a:solidFill>
          </c:spPr>
          <c:invertIfNegative val="0"/>
          <c:cat>
            <c:strRef>
              <c:f>'Chart Data'!$C$2:$C$7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10.4426415789</c:v>
                </c:pt>
                <c:pt idx="1">
                  <c:v>16.1849731044</c:v>
                </c:pt>
                <c:pt idx="2">
                  <c:v>9.36139229396</c:v>
                </c:pt>
                <c:pt idx="3">
                  <c:v>1.35195498696</c:v>
                </c:pt>
                <c:pt idx="4">
                  <c:v>25.3537775481</c:v>
                </c:pt>
                <c:pt idx="5">
                  <c:v>19.6236027273</c:v>
                </c:pt>
              </c:numCache>
            </c:numRef>
          </c:val>
        </c:ser>
        <c:ser>
          <c:idx val="2"/>
          <c:order val="2"/>
          <c:tx>
            <c:v>30대</c:v>
          </c:tx>
          <c:spPr>
            <a:solidFill xmlns:a="http://schemas.openxmlformats.org/drawingml/2006/main">
              <a:srgbClr val="43A7A7"/>
            </a:solidFill>
          </c:spPr>
          <c:invertIfNegative val="0"/>
          <c:cat>
            <c:strRef>
              <c:f>'Chart Data'!$E$2:$E$7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Data'!$F$2:$F$7</c:f>
              <c:numCache>
                <c:formatCode>General</c:formatCode>
                <c:ptCount val="6"/>
                <c:pt idx="0">
                  <c:v>14.1037151331</c:v>
                </c:pt>
                <c:pt idx="1">
                  <c:v>25.5305200469</c:v>
                </c:pt>
                <c:pt idx="2">
                  <c:v>10.5693759253</c:v>
                </c:pt>
                <c:pt idx="3">
                  <c:v>3.24204231481</c:v>
                </c:pt>
                <c:pt idx="4">
                  <c:v>24.6913578337</c:v>
                </c:pt>
                <c:pt idx="5">
                  <c:v>15.9156802159</c:v>
                </c:pt>
              </c:numCache>
            </c:numRef>
          </c:val>
        </c:ser>
        <c:ser>
          <c:idx val="3"/>
          <c:order val="3"/>
          <c:tx>
            <c:v>40대</c:v>
          </c:tx>
          <c:spPr>
            <a:solidFill xmlns:a="http://schemas.openxmlformats.org/drawingml/2006/main">
              <a:srgbClr val="81BDAC"/>
            </a:solidFill>
          </c:spPr>
          <c:invertIfNegative val="0"/>
          <c:cat>
            <c:strRef>
              <c:f>'Chart Data'!$G$2:$G$7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Data'!$H$2:$H$7</c:f>
              <c:numCache>
                <c:formatCode>General</c:formatCode>
                <c:ptCount val="6"/>
                <c:pt idx="0">
                  <c:v>17.6322017255</c:v>
                </c:pt>
                <c:pt idx="1">
                  <c:v>22.9265337179</c:v>
                </c:pt>
                <c:pt idx="2">
                  <c:v>16.4010986793</c:v>
                </c:pt>
                <c:pt idx="3">
                  <c:v>6.77980403469</c:v>
                </c:pt>
                <c:pt idx="4">
                  <c:v>17.8076358734</c:v>
                </c:pt>
                <c:pt idx="5">
                  <c:v>14.4719246568</c:v>
                </c:pt>
              </c:numCache>
            </c:numRef>
          </c:val>
        </c:ser>
        <c:ser>
          <c:idx val="4"/>
          <c:order val="4"/>
          <c:tx>
            <c:v>50대</c:v>
          </c:tx>
          <c:spPr>
            <a:solidFill xmlns:a="http://schemas.openxmlformats.org/drawingml/2006/main">
              <a:srgbClr val="A5C96B"/>
            </a:solidFill>
          </c:spPr>
          <c:invertIfNegative val="0"/>
          <c:cat>
            <c:strRef>
              <c:f>'Chart Data'!$I$2:$I$7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Data'!$J$2:$J$7</c:f>
              <c:numCache>
                <c:formatCode>General</c:formatCode>
                <c:ptCount val="6"/>
                <c:pt idx="0">
                  <c:v>27.3442398171</c:v>
                </c:pt>
                <c:pt idx="1">
                  <c:v>19.9832542332</c:v>
                </c:pt>
                <c:pt idx="2">
                  <c:v>24.0673221627</c:v>
                </c:pt>
                <c:pt idx="3">
                  <c:v>45.3812848965</c:v>
                </c:pt>
                <c:pt idx="4">
                  <c:v>14.9580306121</c:v>
                </c:pt>
                <c:pt idx="5">
                  <c:v>26.5207261253</c:v>
                </c:pt>
              </c:numCache>
            </c:numRef>
          </c:val>
        </c:ser>
        <c:ser>
          <c:idx val="5"/>
          <c:order val="5"/>
          <c:tx>
            <c:v>60대 이상</c:v>
          </c:tx>
          <c:spPr>
            <a:solidFill xmlns:a="http://schemas.openxmlformats.org/drawingml/2006/main">
              <a:srgbClr val="CFD879"/>
            </a:solidFill>
          </c:spPr>
          <c:invertIfNegative val="0"/>
          <c:cat>
            <c:strRef>
              <c:f>'Chart Data'!$K$2:$K$7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Data'!$L$2:$L$7</c:f>
              <c:numCache>
                <c:formatCode>General</c:formatCode>
                <c:ptCount val="6"/>
                <c:pt idx="0">
                  <c:v>27.4420523548</c:v>
                </c:pt>
                <c:pt idx="1">
                  <c:v>12.7465000269</c:v>
                </c:pt>
                <c:pt idx="2">
                  <c:v>35.9223749617</c:v>
                </c:pt>
                <c:pt idx="3">
                  <c:v>24.2003844415</c:v>
                </c:pt>
                <c:pt idx="4">
                  <c:v>13.0897846661</c:v>
                </c:pt>
                <c:pt idx="5">
                  <c:v>20.815276994</c:v>
                </c:pt>
              </c:numCache>
            </c:numRef>
          </c:val>
        </c:ser>
        <c:ser>
          <c:idx val="6"/>
          <c:order val="6"/>
          <c:tx>
            <c:v>연령 잔차</c:v>
          </c:tx>
          <c:spPr>
            <a:solidFill xmlns:a="http://schemas.openxmlformats.org/drawingml/2006/main">
              <a:srgbClr val="C8D1D8"/>
            </a:solidFill>
          </c:spPr>
          <c:invertIfNegative val="0"/>
          <c:cat>
            <c:strRef>
              <c:f>'Chart Data'!$M$2:$M$7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Data'!$N$2:$N$7</c:f>
              <c:numCache>
                <c:formatCode>General</c:formatCode>
                <c:ptCount val="6"/>
                <c:pt idx="0">
                  <c:v>2.77301834941</c:v>
                </c:pt>
                <c:pt idx="1">
                  <c:v>2.059094282</c:v>
                </c:pt>
                <c:pt idx="2">
                  <c:v>2.74597126568</c:v>
                </c:pt>
                <c:pt idx="3">
                  <c:v>19.0445293255</c:v>
                </c:pt>
                <c:pt idx="4">
                  <c:v>3.53923535446</c:v>
                </c:pt>
                <c:pt idx="5">
                  <c:v>1.65162544778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10대</c:v>
          </c:tx>
          <c:spPr>
            <a:solidFill xmlns:a="http://schemas.openxmlformats.org/drawingml/2006/main">
              <a:srgbClr val="365F82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0.56981490447</c:v>
                </c:pt>
                <c:pt idx="1">
                  <c:v>0.520480470362</c:v>
                </c:pt>
                <c:pt idx="2">
                  <c:v>0.996722764799</c:v>
                </c:pt>
                <c:pt idx="3">
                  <c:v>0</c:v>
                </c:pt>
                <c:pt idx="4">
                  <c:v>0.567217541141</c:v>
                </c:pt>
                <c:pt idx="5">
                  <c:v>1.77013908728</c:v>
                </c:pt>
              </c:numCache>
            </c:numRef>
          </c:val>
        </c:ser>
        <c:ser>
          <c:idx val="1"/>
          <c:order val="1"/>
          <c:tx>
            <c:v>20대</c:v>
          </c:tx>
          <c:spPr>
            <a:solidFill xmlns:a="http://schemas.openxmlformats.org/drawingml/2006/main">
              <a:srgbClr val="658EB0"/>
            </a:solidFill>
          </c:spPr>
          <c:invertIfNegative val="0"/>
          <c:cat>
            <c:strRef>
              <c:f>'Chart Data'!$C$2:$C$7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16.6744671524</c:v>
                </c:pt>
                <c:pt idx="1">
                  <c:v>13.8795280655</c:v>
                </c:pt>
                <c:pt idx="2">
                  <c:v>8.20930738683</c:v>
                </c:pt>
                <c:pt idx="3">
                  <c:v>1.4809193103</c:v>
                </c:pt>
                <c:pt idx="4">
                  <c:v>21.0970272293</c:v>
                </c:pt>
                <c:pt idx="5">
                  <c:v>15.2907041246</c:v>
                </c:pt>
              </c:numCache>
            </c:numRef>
          </c:val>
        </c:ser>
        <c:ser>
          <c:idx val="2"/>
          <c:order val="2"/>
          <c:tx>
            <c:v>30대</c:v>
          </c:tx>
          <c:spPr>
            <a:solidFill xmlns:a="http://schemas.openxmlformats.org/drawingml/2006/main">
              <a:srgbClr val="43A7A7"/>
            </a:solidFill>
          </c:spPr>
          <c:invertIfNegative val="0"/>
          <c:cat>
            <c:strRef>
              <c:f>'Chart Data'!$E$2:$E$7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Data'!$F$2:$F$7</c:f>
              <c:numCache>
                <c:formatCode>General</c:formatCode>
                <c:ptCount val="6"/>
                <c:pt idx="0">
                  <c:v>15.9300756598</c:v>
                </c:pt>
                <c:pt idx="1">
                  <c:v>23.9315471985</c:v>
                </c:pt>
                <c:pt idx="2">
                  <c:v>9.56207332672</c:v>
                </c:pt>
                <c:pt idx="3">
                  <c:v>23.7980092596</c:v>
                </c:pt>
                <c:pt idx="4">
                  <c:v>25.9617293985</c:v>
                </c:pt>
                <c:pt idx="5">
                  <c:v>12.9356344782</c:v>
                </c:pt>
              </c:numCache>
            </c:numRef>
          </c:val>
        </c:ser>
        <c:ser>
          <c:idx val="3"/>
          <c:order val="3"/>
          <c:tx>
            <c:v>40대</c:v>
          </c:tx>
          <c:spPr>
            <a:solidFill xmlns:a="http://schemas.openxmlformats.org/drawingml/2006/main">
              <a:srgbClr val="81BDAC"/>
            </a:solidFill>
          </c:spPr>
          <c:invertIfNegative val="0"/>
          <c:cat>
            <c:strRef>
              <c:f>'Chart Data'!$G$2:$G$7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Data'!$H$2:$H$7</c:f>
              <c:numCache>
                <c:formatCode>General</c:formatCode>
                <c:ptCount val="6"/>
                <c:pt idx="0">
                  <c:v>15.1675702797</c:v>
                </c:pt>
                <c:pt idx="1">
                  <c:v>23.364087097</c:v>
                </c:pt>
                <c:pt idx="2">
                  <c:v>13.8155874023</c:v>
                </c:pt>
                <c:pt idx="3">
                  <c:v>5.01742974584</c:v>
                </c:pt>
                <c:pt idx="4">
                  <c:v>18.3521051397</c:v>
                </c:pt>
                <c:pt idx="5">
                  <c:v>19.2309245883</c:v>
                </c:pt>
              </c:numCache>
            </c:numRef>
          </c:val>
        </c:ser>
        <c:ser>
          <c:idx val="4"/>
          <c:order val="4"/>
          <c:tx>
            <c:v>50대</c:v>
          </c:tx>
          <c:spPr>
            <a:solidFill xmlns:a="http://schemas.openxmlformats.org/drawingml/2006/main">
              <a:srgbClr val="A5C96B"/>
            </a:solidFill>
          </c:spPr>
          <c:invertIfNegative val="0"/>
          <c:cat>
            <c:strRef>
              <c:f>'Chart Data'!$I$2:$I$7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Data'!$J$2:$J$7</c:f>
              <c:numCache>
                <c:formatCode>General</c:formatCode>
                <c:ptCount val="6"/>
                <c:pt idx="0">
                  <c:v>24.0671987025</c:v>
                </c:pt>
                <c:pt idx="1">
                  <c:v>21.3069785354</c:v>
                </c:pt>
                <c:pt idx="2">
                  <c:v>22.8652011513</c:v>
                </c:pt>
                <c:pt idx="3">
                  <c:v>34.9564876751</c:v>
                </c:pt>
                <c:pt idx="4">
                  <c:v>16.8574062294</c:v>
                </c:pt>
                <c:pt idx="5">
                  <c:v>23.6665659757</c:v>
                </c:pt>
              </c:numCache>
            </c:numRef>
          </c:val>
        </c:ser>
        <c:ser>
          <c:idx val="5"/>
          <c:order val="5"/>
          <c:tx>
            <c:v>60대 이상</c:v>
          </c:tx>
          <c:spPr>
            <a:solidFill xmlns:a="http://schemas.openxmlformats.org/drawingml/2006/main">
              <a:srgbClr val="CFD879"/>
            </a:solidFill>
          </c:spPr>
          <c:invertIfNegative val="0"/>
          <c:cat>
            <c:strRef>
              <c:f>'Chart Data'!$K$2:$K$7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Data'!$L$2:$L$7</c:f>
              <c:numCache>
                <c:formatCode>General</c:formatCode>
                <c:ptCount val="6"/>
                <c:pt idx="0">
                  <c:v>25.008533356</c:v>
                </c:pt>
                <c:pt idx="1">
                  <c:v>14.7098110437</c:v>
                </c:pt>
                <c:pt idx="2">
                  <c:v>41.6880817249</c:v>
                </c:pt>
                <c:pt idx="3">
                  <c:v>19.6025740316</c:v>
                </c:pt>
                <c:pt idx="4">
                  <c:v>13.5171364095</c:v>
                </c:pt>
                <c:pt idx="5">
                  <c:v>26.6279450958</c:v>
                </c:pt>
              </c:numCache>
            </c:numRef>
          </c:val>
        </c:ser>
        <c:ser>
          <c:idx val="6"/>
          <c:order val="6"/>
          <c:tx>
            <c:v>연령 잔차</c:v>
          </c:tx>
          <c:spPr>
            <a:solidFill xmlns:a="http://schemas.openxmlformats.org/drawingml/2006/main">
              <a:srgbClr val="C8D1D8"/>
            </a:solidFill>
          </c:spPr>
          <c:invertIfNegative val="0"/>
          <c:cat>
            <c:strRef>
              <c:f>'Chart Data'!$M$2:$M$7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Data'!$N$2:$N$7</c:f>
              <c:numCache>
                <c:formatCode>General</c:formatCode>
                <c:ptCount val="6"/>
                <c:pt idx="0">
                  <c:v>2.58233994502</c:v>
                </c:pt>
                <c:pt idx="1">
                  <c:v>2.28756758956</c:v>
                </c:pt>
                <c:pt idx="2">
                  <c:v>2.86302624313</c:v>
                </c:pt>
                <c:pt idx="3">
                  <c:v>15.1445799777</c:v>
                </c:pt>
                <c:pt idx="4">
                  <c:v>3.64737805241</c:v>
                </c:pt>
                <c:pt idx="5">
                  <c:v>0.478086650166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10대</c:v>
          </c:tx>
          <c:spPr>
            <a:solidFill xmlns:a="http://schemas.openxmlformats.org/drawingml/2006/main">
              <a:srgbClr val="365F82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0.634819135581</c:v>
                </c:pt>
                <c:pt idx="1">
                  <c:v>0.506486578735</c:v>
                </c:pt>
                <c:pt idx="2">
                  <c:v>0.796224664941</c:v>
                </c:pt>
                <c:pt idx="3">
                  <c:v>0</c:v>
                </c:pt>
                <c:pt idx="4">
                  <c:v>0.539957615049</c:v>
                </c:pt>
                <c:pt idx="5">
                  <c:v>1.19442416005</c:v>
                </c:pt>
              </c:numCache>
            </c:numRef>
          </c:val>
        </c:ser>
        <c:ser>
          <c:idx val="1"/>
          <c:order val="1"/>
          <c:tx>
            <c:v>20대</c:v>
          </c:tx>
          <c:spPr>
            <a:solidFill xmlns:a="http://schemas.openxmlformats.org/drawingml/2006/main">
              <a:srgbClr val="658EB0"/>
            </a:solidFill>
          </c:spPr>
          <c:invertIfNegative val="0"/>
          <c:cat>
            <c:strRef>
              <c:f>'Chart Data'!$C$2:$C$7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16.2597009744</c:v>
                </c:pt>
                <c:pt idx="1">
                  <c:v>12.4363140248</c:v>
                </c:pt>
                <c:pt idx="2">
                  <c:v>6.86408572215</c:v>
                </c:pt>
                <c:pt idx="3">
                  <c:v>0</c:v>
                </c:pt>
                <c:pt idx="4">
                  <c:v>18.4911898911</c:v>
                </c:pt>
                <c:pt idx="5">
                  <c:v>25.1176386052</c:v>
                </c:pt>
              </c:numCache>
            </c:numRef>
          </c:val>
        </c:ser>
        <c:ser>
          <c:idx val="2"/>
          <c:order val="2"/>
          <c:tx>
            <c:v>30대</c:v>
          </c:tx>
          <c:spPr>
            <a:solidFill xmlns:a="http://schemas.openxmlformats.org/drawingml/2006/main">
              <a:srgbClr val="43A7A7"/>
            </a:solidFill>
          </c:spPr>
          <c:invertIfNegative val="0"/>
          <c:cat>
            <c:strRef>
              <c:f>'Chart Data'!$E$2:$E$7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Data'!$F$2:$F$7</c:f>
              <c:numCache>
                <c:formatCode>General</c:formatCode>
                <c:ptCount val="6"/>
                <c:pt idx="0">
                  <c:v>15.6406554978</c:v>
                </c:pt>
                <c:pt idx="1">
                  <c:v>23.1773257495</c:v>
                </c:pt>
                <c:pt idx="2">
                  <c:v>8.20152004613</c:v>
                </c:pt>
                <c:pt idx="3">
                  <c:v>3.59421970835</c:v>
                </c:pt>
                <c:pt idx="4">
                  <c:v>25.7140807761</c:v>
                </c:pt>
                <c:pt idx="5">
                  <c:v>23.1645081524</c:v>
                </c:pt>
              </c:numCache>
            </c:numRef>
          </c:val>
        </c:ser>
        <c:ser>
          <c:idx val="3"/>
          <c:order val="3"/>
          <c:tx>
            <c:v>40대</c:v>
          </c:tx>
          <c:spPr>
            <a:solidFill xmlns:a="http://schemas.openxmlformats.org/drawingml/2006/main">
              <a:srgbClr val="81BDAC"/>
            </a:solidFill>
          </c:spPr>
          <c:invertIfNegative val="0"/>
          <c:cat>
            <c:strRef>
              <c:f>'Chart Data'!$G$2:$G$7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Data'!$H$2:$H$7</c:f>
              <c:numCache>
                <c:formatCode>General</c:formatCode>
                <c:ptCount val="6"/>
                <c:pt idx="0">
                  <c:v>15.5611551471</c:v>
                </c:pt>
                <c:pt idx="1">
                  <c:v>22.5882538019</c:v>
                </c:pt>
                <c:pt idx="2">
                  <c:v>13.4118432555</c:v>
                </c:pt>
                <c:pt idx="3">
                  <c:v>8.9845144944</c:v>
                </c:pt>
                <c:pt idx="4">
                  <c:v>20.413782813</c:v>
                </c:pt>
                <c:pt idx="5">
                  <c:v>17.6323512596</c:v>
                </c:pt>
              </c:numCache>
            </c:numRef>
          </c:val>
        </c:ser>
        <c:ser>
          <c:idx val="4"/>
          <c:order val="4"/>
          <c:tx>
            <c:v>50대</c:v>
          </c:tx>
          <c:spPr>
            <a:solidFill xmlns:a="http://schemas.openxmlformats.org/drawingml/2006/main">
              <a:srgbClr val="A5C96B"/>
            </a:solidFill>
          </c:spPr>
          <c:invertIfNegative val="0"/>
          <c:cat>
            <c:strRef>
              <c:f>'Chart Data'!$I$2:$I$7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Data'!$J$2:$J$7</c:f>
              <c:numCache>
                <c:formatCode>General</c:formatCode>
                <c:ptCount val="6"/>
                <c:pt idx="0">
                  <c:v>23.2132343897</c:v>
                </c:pt>
                <c:pt idx="1">
                  <c:v>22.037679216</c:v>
                </c:pt>
                <c:pt idx="2">
                  <c:v>22.6318676204</c:v>
                </c:pt>
                <c:pt idx="3">
                  <c:v>45.0988110501</c:v>
                </c:pt>
                <c:pt idx="4">
                  <c:v>17.652535666</c:v>
                </c:pt>
                <c:pt idx="5">
                  <c:v>14.6518471032</c:v>
                </c:pt>
              </c:numCache>
            </c:numRef>
          </c:val>
        </c:ser>
        <c:ser>
          <c:idx val="5"/>
          <c:order val="5"/>
          <c:tx>
            <c:v>60대 이상</c:v>
          </c:tx>
          <c:spPr>
            <a:solidFill xmlns:a="http://schemas.openxmlformats.org/drawingml/2006/main">
              <a:srgbClr val="CFD879"/>
            </a:solidFill>
          </c:spPr>
          <c:invertIfNegative val="0"/>
          <c:cat>
            <c:strRef>
              <c:f>'Chart Data'!$K$2:$K$7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Data'!$L$2:$L$7</c:f>
              <c:numCache>
                <c:formatCode>General</c:formatCode>
                <c:ptCount val="6"/>
                <c:pt idx="0">
                  <c:v>25.9014643036</c:v>
                </c:pt>
                <c:pt idx="1">
                  <c:v>16.4288306217</c:v>
                </c:pt>
                <c:pt idx="2">
                  <c:v>45.8240955708</c:v>
                </c:pt>
                <c:pt idx="3">
                  <c:v>30.9031524881</c:v>
                </c:pt>
                <c:pt idx="4">
                  <c:v>13.8244485003</c:v>
                </c:pt>
                <c:pt idx="5">
                  <c:v>17.7862564266</c:v>
                </c:pt>
              </c:numCache>
            </c:numRef>
          </c:val>
        </c:ser>
        <c:ser>
          <c:idx val="6"/>
          <c:order val="6"/>
          <c:tx>
            <c:v>연령 잔차</c:v>
          </c:tx>
          <c:spPr>
            <a:solidFill xmlns:a="http://schemas.openxmlformats.org/drawingml/2006/main">
              <a:srgbClr val="C8D1D8"/>
            </a:solidFill>
          </c:spPr>
          <c:invertIfNegative val="0"/>
          <c:cat>
            <c:strRef>
              <c:f>'Chart Data'!$M$2:$M$7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Data'!$N$2:$N$7</c:f>
              <c:numCache>
                <c:formatCode>General</c:formatCode>
                <c:ptCount val="6"/>
                <c:pt idx="0">
                  <c:v>2.78897055175</c:v>
                </c:pt>
                <c:pt idx="1">
                  <c:v>2.82511000738</c:v>
                </c:pt>
                <c:pt idx="2">
                  <c:v>2.27036312018</c:v>
                </c:pt>
                <c:pt idx="3">
                  <c:v>11.419302259</c:v>
                </c:pt>
                <c:pt idx="4">
                  <c:v>3.36400473851</c:v>
                </c:pt>
                <c:pt idx="5">
                  <c:v>0.452974292948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10대</c:v>
          </c:tx>
          <c:spPr>
            <a:solidFill xmlns:a="http://schemas.openxmlformats.org/drawingml/2006/main">
              <a:srgbClr val="365F82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0.289103634328</c:v>
                </c:pt>
                <c:pt idx="1">
                  <c:v>0.425135911286</c:v>
                </c:pt>
                <c:pt idx="2">
                  <c:v>0.785627877403</c:v>
                </c:pt>
                <c:pt idx="3">
                  <c:v>0</c:v>
                </c:pt>
                <c:pt idx="4">
                  <c:v>0.347671440818</c:v>
                </c:pt>
                <c:pt idx="5">
                  <c:v>0.84890326735</c:v>
                </c:pt>
              </c:numCache>
            </c:numRef>
          </c:val>
        </c:ser>
        <c:ser>
          <c:idx val="1"/>
          <c:order val="1"/>
          <c:tx>
            <c:v>20대</c:v>
          </c:tx>
          <c:spPr>
            <a:solidFill xmlns:a="http://schemas.openxmlformats.org/drawingml/2006/main">
              <a:srgbClr val="658EB0"/>
            </a:solidFill>
          </c:spPr>
          <c:invertIfNegative val="0"/>
          <c:cat>
            <c:strRef>
              <c:f>'Chart Data'!$C$2:$C$7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11.0954031465</c:v>
                </c:pt>
                <c:pt idx="1">
                  <c:v>11.570276109</c:v>
                </c:pt>
                <c:pt idx="2">
                  <c:v>6.35717524949</c:v>
                </c:pt>
                <c:pt idx="3">
                  <c:v>1.68914560841</c:v>
                </c:pt>
                <c:pt idx="4">
                  <c:v>14.6149346294</c:v>
                </c:pt>
                <c:pt idx="5">
                  <c:v>19.5541275702</c:v>
                </c:pt>
              </c:numCache>
            </c:numRef>
          </c:val>
        </c:ser>
        <c:ser>
          <c:idx val="2"/>
          <c:order val="2"/>
          <c:tx>
            <c:v>30대</c:v>
          </c:tx>
          <c:spPr>
            <a:solidFill xmlns:a="http://schemas.openxmlformats.org/drawingml/2006/main">
              <a:srgbClr val="43A7A7"/>
            </a:solidFill>
          </c:spPr>
          <c:invertIfNegative val="0"/>
          <c:cat>
            <c:strRef>
              <c:f>'Chart Data'!$E$2:$E$7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Data'!$F$2:$F$7</c:f>
              <c:numCache>
                <c:formatCode>General</c:formatCode>
                <c:ptCount val="6"/>
                <c:pt idx="0">
                  <c:v>15.8750963536</c:v>
                </c:pt>
                <c:pt idx="1">
                  <c:v>23.4276123732</c:v>
                </c:pt>
                <c:pt idx="2">
                  <c:v>8.44035055167</c:v>
                </c:pt>
                <c:pt idx="3">
                  <c:v>9.43960019934</c:v>
                </c:pt>
                <c:pt idx="4">
                  <c:v>23.8941540289</c:v>
                </c:pt>
                <c:pt idx="5">
                  <c:v>22.2700096235</c:v>
                </c:pt>
              </c:numCache>
            </c:numRef>
          </c:val>
        </c:ser>
        <c:ser>
          <c:idx val="3"/>
          <c:order val="3"/>
          <c:tx>
            <c:v>40대</c:v>
          </c:tx>
          <c:spPr>
            <a:solidFill xmlns:a="http://schemas.openxmlformats.org/drawingml/2006/main">
              <a:srgbClr val="81BDAC"/>
            </a:solidFill>
          </c:spPr>
          <c:invertIfNegative val="0"/>
          <c:cat>
            <c:strRef>
              <c:f>'Chart Data'!$G$2:$G$7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Data'!$H$2:$H$7</c:f>
              <c:numCache>
                <c:formatCode>General</c:formatCode>
                <c:ptCount val="6"/>
                <c:pt idx="0">
                  <c:v>16.4714055941</c:v>
                </c:pt>
                <c:pt idx="1">
                  <c:v>22.4635353612</c:v>
                </c:pt>
                <c:pt idx="2">
                  <c:v>13.2948618519</c:v>
                </c:pt>
                <c:pt idx="3">
                  <c:v>8.38024056808</c:v>
                </c:pt>
                <c:pt idx="4">
                  <c:v>19.7232789404</c:v>
                </c:pt>
                <c:pt idx="5">
                  <c:v>19.2256892252</c:v>
                </c:pt>
              </c:numCache>
            </c:numRef>
          </c:val>
        </c:ser>
        <c:ser>
          <c:idx val="4"/>
          <c:order val="4"/>
          <c:tx>
            <c:v>50대</c:v>
          </c:tx>
          <c:spPr>
            <a:solidFill xmlns:a="http://schemas.openxmlformats.org/drawingml/2006/main">
              <a:srgbClr val="A5C96B"/>
            </a:solidFill>
          </c:spPr>
          <c:invertIfNegative val="0"/>
          <c:cat>
            <c:strRef>
              <c:f>'Chart Data'!$I$2:$I$7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Data'!$J$2:$J$7</c:f>
              <c:numCache>
                <c:formatCode>General</c:formatCode>
                <c:ptCount val="6"/>
                <c:pt idx="0">
                  <c:v>23.8320093382</c:v>
                </c:pt>
                <c:pt idx="1">
                  <c:v>21.9247027339</c:v>
                </c:pt>
                <c:pt idx="2">
                  <c:v>20.2281313014</c:v>
                </c:pt>
                <c:pt idx="3">
                  <c:v>30.637767441</c:v>
                </c:pt>
                <c:pt idx="4">
                  <c:v>18.4271014657</c:v>
                </c:pt>
                <c:pt idx="5">
                  <c:v>16.4686130974</c:v>
                </c:pt>
              </c:numCache>
            </c:numRef>
          </c:val>
        </c:ser>
        <c:ser>
          <c:idx val="5"/>
          <c:order val="5"/>
          <c:tx>
            <c:v>60대 이상</c:v>
          </c:tx>
          <c:spPr>
            <a:solidFill xmlns:a="http://schemas.openxmlformats.org/drawingml/2006/main">
              <a:srgbClr val="CFD879"/>
            </a:solidFill>
          </c:spPr>
          <c:invertIfNegative val="0"/>
          <c:cat>
            <c:strRef>
              <c:f>'Chart Data'!$K$2:$K$7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Data'!$L$2:$L$7</c:f>
              <c:numCache>
                <c:formatCode>General</c:formatCode>
                <c:ptCount val="6"/>
                <c:pt idx="0">
                  <c:v>29.3528971181</c:v>
                </c:pt>
                <c:pt idx="1">
                  <c:v>17.694009491</c:v>
                </c:pt>
                <c:pt idx="2">
                  <c:v>48.9875759848</c:v>
                </c:pt>
                <c:pt idx="3">
                  <c:v>28.1360522528</c:v>
                </c:pt>
                <c:pt idx="4">
                  <c:v>20.3143928973</c:v>
                </c:pt>
                <c:pt idx="5">
                  <c:v>21.2877743034</c:v>
                </c:pt>
              </c:numCache>
            </c:numRef>
          </c:val>
        </c:ser>
        <c:ser>
          <c:idx val="6"/>
          <c:order val="6"/>
          <c:tx>
            <c:v>연령 잔차</c:v>
          </c:tx>
          <c:spPr>
            <a:solidFill xmlns:a="http://schemas.openxmlformats.org/drawingml/2006/main">
              <a:srgbClr val="C8D1D8"/>
            </a:solidFill>
          </c:spPr>
          <c:invertIfNegative val="0"/>
          <c:cat>
            <c:strRef>
              <c:f>'Chart Data'!$M$2:$M$7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Data'!$N$2:$N$7</c:f>
              <c:numCache>
                <c:formatCode>General</c:formatCode>
                <c:ptCount val="6"/>
                <c:pt idx="0">
                  <c:v>3.08408481521</c:v>
                </c:pt>
                <c:pt idx="1">
                  <c:v>2.49472802044</c:v>
                </c:pt>
                <c:pt idx="2">
                  <c:v>1.90627718331</c:v>
                </c:pt>
                <c:pt idx="3">
                  <c:v>21.7171939305</c:v>
                </c:pt>
                <c:pt idx="4">
                  <c:v>2.67846659746</c:v>
                </c:pt>
                <c:pt idx="5">
                  <c:v>0.34488291297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10대</c:v>
          </c:tx>
          <c:spPr>
            <a:solidFill xmlns:a="http://schemas.openxmlformats.org/drawingml/2006/main">
              <a:srgbClr val="365F82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0.418511132676</c:v>
                </c:pt>
                <c:pt idx="1">
                  <c:v>0.389191055985</c:v>
                </c:pt>
                <c:pt idx="2">
                  <c:v>0.92615264845</c:v>
                </c:pt>
                <c:pt idx="3">
                  <c:v>0</c:v>
                </c:pt>
                <c:pt idx="4">
                  <c:v>0.47355438861</c:v>
                </c:pt>
                <c:pt idx="5">
                  <c:v>0.767197539841</c:v>
                </c:pt>
              </c:numCache>
            </c:numRef>
          </c:val>
        </c:ser>
        <c:ser>
          <c:idx val="1"/>
          <c:order val="1"/>
          <c:tx>
            <c:v>20대</c:v>
          </c:tx>
          <c:spPr>
            <a:solidFill xmlns:a="http://schemas.openxmlformats.org/drawingml/2006/main">
              <a:srgbClr val="658EB0"/>
            </a:solidFill>
          </c:spPr>
          <c:invertIfNegative val="0"/>
          <c:cat>
            <c:strRef>
              <c:f>'Chart Data'!$C$2:$C$7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11.6273165307</c:v>
                </c:pt>
                <c:pt idx="1">
                  <c:v>10.5059581243</c:v>
                </c:pt>
                <c:pt idx="2">
                  <c:v>7.12365350842</c:v>
                </c:pt>
                <c:pt idx="3">
                  <c:v>3.34199368437</c:v>
                </c:pt>
                <c:pt idx="4">
                  <c:v>13.1017753185</c:v>
                </c:pt>
                <c:pt idx="5">
                  <c:v>13.9454932865</c:v>
                </c:pt>
              </c:numCache>
            </c:numRef>
          </c:val>
        </c:ser>
        <c:ser>
          <c:idx val="2"/>
          <c:order val="2"/>
          <c:tx>
            <c:v>30대</c:v>
          </c:tx>
          <c:spPr>
            <a:solidFill xmlns:a="http://schemas.openxmlformats.org/drawingml/2006/main">
              <a:srgbClr val="43A7A7"/>
            </a:solidFill>
          </c:spPr>
          <c:invertIfNegative val="0"/>
          <c:cat>
            <c:strRef>
              <c:f>'Chart Data'!$E$2:$E$7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Data'!$F$2:$F$7</c:f>
              <c:numCache>
                <c:formatCode>General</c:formatCode>
                <c:ptCount val="6"/>
                <c:pt idx="0">
                  <c:v>16.2315277922</c:v>
                </c:pt>
                <c:pt idx="1">
                  <c:v>22.4063331308</c:v>
                </c:pt>
                <c:pt idx="2">
                  <c:v>10.3409183622</c:v>
                </c:pt>
                <c:pt idx="3">
                  <c:v>4.00790773169</c:v>
                </c:pt>
                <c:pt idx="4">
                  <c:v>24.5639718817</c:v>
                </c:pt>
                <c:pt idx="5">
                  <c:v>22.2343026726</c:v>
                </c:pt>
              </c:numCache>
            </c:numRef>
          </c:val>
        </c:ser>
        <c:ser>
          <c:idx val="3"/>
          <c:order val="3"/>
          <c:tx>
            <c:v>40대</c:v>
          </c:tx>
          <c:spPr>
            <a:solidFill xmlns:a="http://schemas.openxmlformats.org/drawingml/2006/main">
              <a:srgbClr val="81BDAC"/>
            </a:solidFill>
          </c:spPr>
          <c:invertIfNegative val="0"/>
          <c:cat>
            <c:strRef>
              <c:f>'Chart Data'!$G$2:$G$7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Data'!$H$2:$H$7</c:f>
              <c:numCache>
                <c:formatCode>General</c:formatCode>
                <c:ptCount val="6"/>
                <c:pt idx="0">
                  <c:v>16.9337410229</c:v>
                </c:pt>
                <c:pt idx="1">
                  <c:v>21.8178167339</c:v>
                </c:pt>
                <c:pt idx="2">
                  <c:v>13.0964547282</c:v>
                </c:pt>
                <c:pt idx="3">
                  <c:v>10.0952408364</c:v>
                </c:pt>
                <c:pt idx="4">
                  <c:v>20.2268997449</c:v>
                </c:pt>
                <c:pt idx="5">
                  <c:v>20.2791582845</c:v>
                </c:pt>
              </c:numCache>
            </c:numRef>
          </c:val>
        </c:ser>
        <c:ser>
          <c:idx val="4"/>
          <c:order val="4"/>
          <c:tx>
            <c:v>50대</c:v>
          </c:tx>
          <c:spPr>
            <a:solidFill xmlns:a="http://schemas.openxmlformats.org/drawingml/2006/main">
              <a:srgbClr val="A5C96B"/>
            </a:solidFill>
          </c:spPr>
          <c:invertIfNegative val="0"/>
          <c:cat>
            <c:strRef>
              <c:f>'Chart Data'!$I$2:$I$7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Data'!$J$2:$J$7</c:f>
              <c:numCache>
                <c:formatCode>General</c:formatCode>
                <c:ptCount val="6"/>
                <c:pt idx="0">
                  <c:v>22.0936023744</c:v>
                </c:pt>
                <c:pt idx="1">
                  <c:v>22.4051195184</c:v>
                </c:pt>
                <c:pt idx="2">
                  <c:v>19.6963838399</c:v>
                </c:pt>
                <c:pt idx="3">
                  <c:v>16.4407462301</c:v>
                </c:pt>
                <c:pt idx="4">
                  <c:v>20.8204621854</c:v>
                </c:pt>
                <c:pt idx="5">
                  <c:v>17.94396823</c:v>
                </c:pt>
              </c:numCache>
            </c:numRef>
          </c:val>
        </c:ser>
        <c:ser>
          <c:idx val="5"/>
          <c:order val="5"/>
          <c:tx>
            <c:v>60대 이상</c:v>
          </c:tx>
          <c:spPr>
            <a:solidFill xmlns:a="http://schemas.openxmlformats.org/drawingml/2006/main">
              <a:srgbClr val="CFD879"/>
            </a:solidFill>
          </c:spPr>
          <c:invertIfNegative val="0"/>
          <c:cat>
            <c:strRef>
              <c:f>'Chart Data'!$K$2:$K$7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Data'!$L$2:$L$7</c:f>
              <c:numCache>
                <c:formatCode>General</c:formatCode>
                <c:ptCount val="6"/>
                <c:pt idx="0">
                  <c:v>30.1601395542</c:v>
                </c:pt>
                <c:pt idx="1">
                  <c:v>19.5130417464</c:v>
                </c:pt>
                <c:pt idx="2">
                  <c:v>46.9613287679</c:v>
                </c:pt>
                <c:pt idx="3">
                  <c:v>43.2606814523</c:v>
                </c:pt>
                <c:pt idx="4">
                  <c:v>16.4046996591</c:v>
                </c:pt>
                <c:pt idx="5">
                  <c:v>24.4176916908</c:v>
                </c:pt>
              </c:numCache>
            </c:numRef>
          </c:val>
        </c:ser>
        <c:ser>
          <c:idx val="6"/>
          <c:order val="6"/>
          <c:tx>
            <c:v>연령 잔차</c:v>
          </c:tx>
          <c:spPr>
            <a:solidFill xmlns:a="http://schemas.openxmlformats.org/drawingml/2006/main">
              <a:srgbClr val="C8D1D8"/>
            </a:solidFill>
          </c:spPr>
          <c:invertIfNegative val="0"/>
          <c:cat>
            <c:strRef>
              <c:f>'Chart Data'!$M$2:$M$7</c:f>
              <c:strCache>
                <c:ptCount val="6"/>
                <c:pt idx="0">
                  <c:v>의류 골목</c:v>
                </c:pt>
                <c:pt idx="1">
                  <c:v>의류 발달</c:v>
                </c:pt>
                <c:pt idx="2">
                  <c:v>의류 전통시장</c:v>
                </c:pt>
                <c:pt idx="3">
                  <c:v>가방 골목</c:v>
                </c:pt>
                <c:pt idx="4">
                  <c:v>가방 발달</c:v>
                </c:pt>
                <c:pt idx="5">
                  <c:v>가방 전통시장</c:v>
                </c:pt>
              </c:strCache>
            </c:strRef>
          </c:cat>
          <c:val>
            <c:numRef>
              <c:f>'Chart Data'!$N$2:$N$7</c:f>
              <c:numCache>
                <c:formatCode>General</c:formatCode>
                <c:ptCount val="6"/>
                <c:pt idx="0">
                  <c:v>2.53516159305</c:v>
                </c:pt>
                <c:pt idx="1">
                  <c:v>2.96253969033</c:v>
                </c:pt>
                <c:pt idx="2">
                  <c:v>1.85510814498</c:v>
                </c:pt>
                <c:pt idx="3">
                  <c:v>22.8534300652</c:v>
                </c:pt>
                <c:pt idx="4">
                  <c:v>4.40863682176</c:v>
                </c:pt>
                <c:pt idx="5">
                  <c:v>0.412188295716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상권 수</c:v>
          </c:tx>
          <c:spPr>
            <a:solidFill xmlns:a="http://schemas.openxmlformats.org/drawingml/2006/main">
              <a:srgbClr val="365F82"/>
            </a:solidFill>
          </c:spPr>
          <c:invertIfNegative val="0"/>
          <c:cat>
            <c:numRef>
              <c:f>'Chart Data'!$A$2:$A$26</c:f>
              <c:numCache>
                <c:formatCode>General</c:formatCode>
                <c:ptCount val="25"/>
                <c:pt idx="0">
                  <c:v>0.1</c:v>
                </c:pt>
                <c:pt idx="1">
                  <c:v>0.3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  <c:pt idx="6">
                  <c:v>1.1</c:v>
                </c:pt>
                <c:pt idx="7">
                  <c:v>1.3</c:v>
                </c:pt>
                <c:pt idx="8">
                  <c:v>1.5</c:v>
                </c:pt>
                <c:pt idx="9">
                  <c:v>1.6</c:v>
                </c:pt>
                <c:pt idx="10">
                  <c:v>1.8</c:v>
                </c:pt>
                <c:pt idx="11">
                  <c:v>2.0</c:v>
                </c:pt>
                <c:pt idx="12">
                  <c:v>2.2</c:v>
                </c:pt>
                <c:pt idx="13">
                  <c:v>2.3</c:v>
                </c:pt>
                <c:pt idx="14">
                  <c:v>2.5</c:v>
                </c:pt>
                <c:pt idx="15">
                  <c:v>2.7</c:v>
                </c:pt>
                <c:pt idx="16">
                  <c:v>2.8</c:v>
                </c:pt>
                <c:pt idx="17">
                  <c:v>3.0</c:v>
                </c:pt>
                <c:pt idx="18">
                  <c:v>3.2</c:v>
                </c:pt>
                <c:pt idx="19">
                  <c:v>3.4</c:v>
                </c:pt>
                <c:pt idx="20">
                  <c:v>3.5</c:v>
                </c:pt>
                <c:pt idx="21">
                  <c:v>3.7</c:v>
                </c:pt>
                <c:pt idx="22">
                  <c:v>3.9</c:v>
                </c:pt>
                <c:pt idx="23">
                  <c:v>4.0</c:v>
                </c:pt>
                <c:pt idx="24">
                  <c:v>4.2</c:v>
                </c:pt>
              </c:numCache>
            </c:numRef>
          </c:cat>
          <c:val>
            <c:numRef>
              <c:f>'Chart Data'!$B$2:$B$26</c:f>
              <c:numCache>
                <c:formatCode>General</c:formatCode>
                <c:ptCount val="25"/>
                <c:pt idx="0">
                  <c:v>88</c:v>
                </c:pt>
                <c:pt idx="1">
                  <c:v>100</c:v>
                </c:pt>
                <c:pt idx="2">
                  <c:v>86</c:v>
                </c:pt>
                <c:pt idx="3">
                  <c:v>72</c:v>
                </c:pt>
                <c:pt idx="4">
                  <c:v>77</c:v>
                </c:pt>
                <c:pt idx="5">
                  <c:v>74</c:v>
                </c:pt>
                <c:pt idx="6">
                  <c:v>76</c:v>
                </c:pt>
                <c:pt idx="7">
                  <c:v>44</c:v>
                </c:pt>
                <c:pt idx="8">
                  <c:v>42</c:v>
                </c:pt>
                <c:pt idx="9">
                  <c:v>28</c:v>
                </c:pt>
                <c:pt idx="10">
                  <c:v>32</c:v>
                </c:pt>
                <c:pt idx="11">
                  <c:v>19</c:v>
                </c:pt>
                <c:pt idx="12">
                  <c:v>15</c:v>
                </c:pt>
                <c:pt idx="13">
                  <c:v>12</c:v>
                </c:pt>
                <c:pt idx="14">
                  <c:v>9</c:v>
                </c:pt>
                <c:pt idx="15">
                  <c:v>8</c:v>
                </c:pt>
                <c:pt idx="16">
                  <c:v>5</c:v>
                </c:pt>
                <c:pt idx="17">
                  <c:v>5</c:v>
                </c:pt>
                <c:pt idx="18">
                  <c:v>4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1</c:v>
                </c:pt>
                <c:pt idx="23">
                  <c:v>0</c:v>
                </c:pt>
                <c:pt idx="24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상권 수</c:v>
          </c:tx>
          <c:spPr>
            <a:solidFill xmlns:a="http://schemas.openxmlformats.org/drawingml/2006/main">
              <a:srgbClr val="365F82"/>
            </a:solidFill>
          </c:spPr>
          <c:invertIfNegative val="0"/>
          <c:cat>
            <c:numRef>
              <c:f>'Chart Data'!$A$2:$A$26</c:f>
              <c:numCache>
                <c:formatCode>General</c:formatCode>
                <c:ptCount val="25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1.0</c:v>
                </c:pt>
                <c:pt idx="9">
                  <c:v>1.1</c:v>
                </c:pt>
                <c:pt idx="10">
                  <c:v>1.2</c:v>
                </c:pt>
                <c:pt idx="11">
                  <c:v>1.3</c:v>
                </c:pt>
                <c:pt idx="12">
                  <c:v>1.4</c:v>
                </c:pt>
                <c:pt idx="13">
                  <c:v>1.5</c:v>
                </c:pt>
                <c:pt idx="14">
                  <c:v>1.6</c:v>
                </c:pt>
                <c:pt idx="15">
                  <c:v>1.7</c:v>
                </c:pt>
                <c:pt idx="16">
                  <c:v>1.9</c:v>
                </c:pt>
                <c:pt idx="17">
                  <c:v>2.0</c:v>
                </c:pt>
                <c:pt idx="18">
                  <c:v>2.1</c:v>
                </c:pt>
                <c:pt idx="19">
                  <c:v>2.2</c:v>
                </c:pt>
                <c:pt idx="20">
                  <c:v>2.3</c:v>
                </c:pt>
                <c:pt idx="21">
                  <c:v>2.4</c:v>
                </c:pt>
                <c:pt idx="22">
                  <c:v>2.5</c:v>
                </c:pt>
                <c:pt idx="23">
                  <c:v>2.6</c:v>
                </c:pt>
                <c:pt idx="24">
                  <c:v>2.7</c:v>
                </c:pt>
              </c:numCache>
            </c:numRef>
          </c:cat>
          <c:val>
            <c:numRef>
              <c:f>'Chart Data'!$B$2:$B$26</c:f>
              <c:numCache>
                <c:formatCode>General</c:formatCode>
                <c:ptCount val="25"/>
                <c:pt idx="0">
                  <c:v>8</c:v>
                </c:pt>
                <c:pt idx="1">
                  <c:v>2</c:v>
                </c:pt>
                <c:pt idx="2">
                  <c:v>9</c:v>
                </c:pt>
                <c:pt idx="3">
                  <c:v>4</c:v>
                </c:pt>
                <c:pt idx="4">
                  <c:v>4</c:v>
                </c:pt>
                <c:pt idx="5">
                  <c:v>2</c:v>
                </c:pt>
                <c:pt idx="6">
                  <c:v>4</c:v>
                </c:pt>
                <c:pt idx="7">
                  <c:v>2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2</c:v>
                </c:pt>
                <c:pt idx="15">
                  <c:v>4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</c:v>
                </c:pt>
                <c:pt idx="20">
                  <c:v>0</c:v>
                </c:pt>
                <c:pt idx="21">
                  <c:v>1</c:v>
                </c:pt>
                <c:pt idx="22">
                  <c:v>0</c:v>
                </c:pt>
                <c:pt idx="23">
                  <c:v>1</c:v>
                </c:pt>
                <c:pt idx="24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seed 17</c:v>
          </c:tx>
          <c:spPr>
            <a:solidFill xmlns:a="http://schemas.openxmlformats.org/drawingml/2006/main">
              <a:srgbClr val="365F82"/>
            </a:solidFill>
          </c:spPr>
          <c:marker>
            <c:symbol val="none"/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125</c:v>
                </c:pt>
                <c:pt idx="5">
                  <c:v>150</c:v>
                </c:pt>
                <c:pt idx="6">
                  <c:v>175</c:v>
                </c:pt>
                <c:pt idx="7">
                  <c:v>200</c:v>
                </c:pt>
                <c:pt idx="8">
                  <c:v>225</c:v>
                </c:pt>
                <c:pt idx="9">
                  <c:v>250</c:v>
                </c:pt>
              </c:numCache>
            </c:num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0.608196372473</c:v>
                </c:pt>
                <c:pt idx="1">
                  <c:v>0.577678670648</c:v>
                </c:pt>
                <c:pt idx="2">
                  <c:v>0.521178612032</c:v>
                </c:pt>
                <c:pt idx="3">
                  <c:v>0.463578916122</c:v>
                </c:pt>
                <c:pt idx="4">
                  <c:v>0.436918772602</c:v>
                </c:pt>
                <c:pt idx="5">
                  <c:v>0.424839595377</c:v>
                </c:pt>
                <c:pt idx="6">
                  <c:v>0.417308633745</c:v>
                </c:pt>
                <c:pt idx="7">
                  <c:v>0.412139087778</c:v>
                </c:pt>
                <c:pt idx="8">
                  <c:v>0.408344864895</c:v>
                </c:pt>
                <c:pt idx="9">
                  <c:v>0.405388739058</c:v>
                </c:pt>
              </c:numCache>
            </c:numRef>
          </c:val>
          <c:smooth val="0"/>
        </c:ser>
        <c:ser>
          <c:idx val="1"/>
          <c:order val="1"/>
          <c:tx>
            <c:v>seed 83</c:v>
          </c:tx>
          <c:spPr>
            <a:solidFill xmlns:a="http://schemas.openxmlformats.org/drawingml/2006/main">
              <a:srgbClr val="658EB0"/>
            </a:solidFill>
          </c:spPr>
          <c:marker>
            <c:symbol val="none"/>
          </c:marker>
          <c:cat>
            <c:numRef>
              <c:f>'Chart Data'!$C$2:$C$11</c:f>
              <c:numCache>
                <c:formatCode>General</c:formatCode>
                <c:ptCount val="10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125</c:v>
                </c:pt>
                <c:pt idx="5">
                  <c:v>150</c:v>
                </c:pt>
                <c:pt idx="6">
                  <c:v>175</c:v>
                </c:pt>
                <c:pt idx="7">
                  <c:v>200</c:v>
                </c:pt>
                <c:pt idx="8">
                  <c:v>225</c:v>
                </c:pt>
                <c:pt idx="9">
                  <c:v>250</c:v>
                </c:pt>
              </c:numCache>
            </c:numRef>
          </c:cat>
          <c:val>
            <c:numRef>
              <c:f>'Chart Data'!$D$2:$D$11</c:f>
              <c:numCache>
                <c:formatCode>General</c:formatCode>
                <c:ptCount val="10"/>
                <c:pt idx="0">
                  <c:v>0.607549051769</c:v>
                </c:pt>
                <c:pt idx="1">
                  <c:v>0.574255381459</c:v>
                </c:pt>
                <c:pt idx="2">
                  <c:v>0.511536284183</c:v>
                </c:pt>
                <c:pt idx="3">
                  <c:v>0.453678253548</c:v>
                </c:pt>
                <c:pt idx="4">
                  <c:v>0.431510249742</c:v>
                </c:pt>
                <c:pt idx="5">
                  <c:v>0.421755930441</c:v>
                </c:pt>
                <c:pt idx="6">
                  <c:v>0.41579360452</c:v>
                </c:pt>
                <c:pt idx="7">
                  <c:v>0.41097213547</c:v>
                </c:pt>
                <c:pt idx="8">
                  <c:v>0.40711762375</c:v>
                </c:pt>
                <c:pt idx="9">
                  <c:v>0.404212350561</c:v>
                </c:pt>
              </c:numCache>
            </c:numRef>
          </c:val>
          <c:smooth val="0"/>
        </c:ser>
        <c:ser>
          <c:idx val="2"/>
          <c:order val="2"/>
          <c:tx>
            <c:v>seed 131</c:v>
          </c:tx>
          <c:spPr>
            <a:solidFill xmlns:a="http://schemas.openxmlformats.org/drawingml/2006/main">
              <a:srgbClr val="43A7A7"/>
            </a:solidFill>
          </c:spPr>
          <c:marker>
            <c:symbol val="none"/>
          </c:marker>
          <c:cat>
            <c:numRef>
              <c:f>'Chart Data'!$E$2:$E$11</c:f>
              <c:numCache>
                <c:formatCode>General</c:formatCode>
                <c:ptCount val="10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125</c:v>
                </c:pt>
                <c:pt idx="5">
                  <c:v>150</c:v>
                </c:pt>
                <c:pt idx="6">
                  <c:v>175</c:v>
                </c:pt>
                <c:pt idx="7">
                  <c:v>200</c:v>
                </c:pt>
                <c:pt idx="8">
                  <c:v>225</c:v>
                </c:pt>
                <c:pt idx="9">
                  <c:v>250</c:v>
                </c:pt>
              </c:numCache>
            </c:numRef>
          </c:cat>
          <c:val>
            <c:numRef>
              <c:f>'Chart Data'!$F$2:$F$11</c:f>
              <c:numCache>
                <c:formatCode>General</c:formatCode>
                <c:ptCount val="10"/>
                <c:pt idx="0">
                  <c:v>0.615752096348</c:v>
                </c:pt>
                <c:pt idx="1">
                  <c:v>0.597887115631</c:v>
                </c:pt>
                <c:pt idx="2">
                  <c:v>0.554395591826</c:v>
                </c:pt>
                <c:pt idx="3">
                  <c:v>0.499579662315</c:v>
                </c:pt>
                <c:pt idx="4">
                  <c:v>0.453701204729</c:v>
                </c:pt>
                <c:pt idx="5">
                  <c:v>0.427178958052</c:v>
                </c:pt>
                <c:pt idx="6">
                  <c:v>0.416563428494</c:v>
                </c:pt>
                <c:pt idx="7">
                  <c:v>0.411049544061</c:v>
                </c:pt>
                <c:pt idx="8">
                  <c:v>0.407230908057</c:v>
                </c:pt>
                <c:pt idx="9">
                  <c:v>0.40372654931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WAPE %</c:v>
          </c:tx>
          <c:spPr>
            <a:solidFill xmlns:a="http://schemas.openxmlformats.org/drawingml/2006/main">
              <a:srgbClr val="365F82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두기준평균</c:v>
                </c:pt>
                <c:pt idx="1">
                  <c:v>시차2기준</c:v>
                </c:pt>
                <c:pt idx="2">
                  <c:v>신경망100</c:v>
                </c:pt>
                <c:pt idx="3">
                  <c:v>신경망250</c:v>
                </c:pt>
                <c:pt idx="4">
                  <c:v>전년동분기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14.24</c:v>
                </c:pt>
                <c:pt idx="1">
                  <c:v>14.96</c:v>
                </c:pt>
                <c:pt idx="2">
                  <c:v>18.083</c:v>
                </c:pt>
                <c:pt idx="3">
                  <c:v>15.801</c:v>
                </c:pt>
                <c:pt idx="4">
                  <c:v>16.798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WAPE %</c:v>
          </c:tx>
          <c:spPr>
            <a:solidFill xmlns:a="http://schemas.openxmlformats.org/drawingml/2006/main">
              <a:srgbClr val="365F82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두기준평균</c:v>
                </c:pt>
                <c:pt idx="1">
                  <c:v>시차2기준</c:v>
                </c:pt>
                <c:pt idx="2">
                  <c:v>신경망100</c:v>
                </c:pt>
                <c:pt idx="3">
                  <c:v>신경망250</c:v>
                </c:pt>
                <c:pt idx="4">
                  <c:v>전년동분기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17.919</c:v>
                </c:pt>
                <c:pt idx="1">
                  <c:v>18.398</c:v>
                </c:pt>
                <c:pt idx="2">
                  <c:v>24.638</c:v>
                </c:pt>
                <c:pt idx="3">
                  <c:v>20.72</c:v>
                </c:pt>
                <c:pt idx="4">
                  <c:v>21.461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789C5-E29D-4C78-BBC9-D10078BF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신규 패션 브랜드의 서울 상권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2C718-0F00-4C64-9172-B916D691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47727-CB53-431B-819E-B5613501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2021~2025년 일반의류·가방. 데이터 처리부터 상권별 상품 전개 가설까지.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31A37-FAE0-4274-9B14-96BF5D17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01 / 36   서울 패션상권 분석 · 상세 결과보고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F4743-9236-43F5-88C2-0D906E45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상권별 매출·소비 연령 비교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AA974-8A93-4BF1-82D2-768702CE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EDA와 모델링 상세 결과보고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5CE3B-4E5E-4193-9711-51CFB524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2026.10.22 · 블루그레이 상세판</a:t>
            </a:r>
          </a:p>
        </p:txBody>
      </p:sp>
    </p:spTree>
    <p:extLst>
      <p:ext uri="{BB962C8B-B14F-4D97-AF65-F5344CB8AC3E}">
        <p14:creationId xmlns:p14="http://schemas.microsoft.com/office/powerpoint/2010/main" val="353344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CF533-840F-4D69-9078-19FEF95D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사업 질문과 보고서 읽는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DAC8D-8757-477D-9B07-911A090C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54FF3-7E6B-423F-A378-88F017D4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10평 미만 팝업 가정. 실제 재고 수량·사이즈·색상 배분은 이번 범위에서 제외.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0F4FC-70E7-48B5-BE83-4CDFC07F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02 / 36   서울 패션상권 분석 · 상세 결과보고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EC9EC-3E5B-47FC-A561-D6606705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일상과 자연을 연결하는 남녀 라이프스타일 아웃도어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A13B1-3F5A-4659-AEE9-DE1EA99C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시즌 개발: 의류 30–40스타일 / 가방 30스타일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266B0-57E0-4B1A-BDCC-2451AEC2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상권별 팝업에서 선별할 취급 스타일 수를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320C3-DEE2-4891-9946-E7B3FDF1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데이터 처리 → EDA → 모델 검증 → 상권별 판단</a:t>
            </a:r>
          </a:p>
        </p:txBody>
      </p:sp>
    </p:spTree>
    <p:extLst>
      <p:ext uri="{BB962C8B-B14F-4D97-AF65-F5344CB8AC3E}">
        <p14:creationId xmlns:p14="http://schemas.microsoft.com/office/powerpoint/2010/main" val="279963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9874A-11B9-45EB-B14F-74985F14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원자료 보존과 분석 대상의 변화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601DB-539E-4817-8775-15C35320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6EC9B-7E0E-4A6F-AD77-DE8C517A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한 행은 상권×업종×분기. 학습 제외는 EDA 자료 삭제가 아닙니다.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1BF99-5A9D-4A32-8782-0D0B3F27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03 / 36   02_처리단계별_행수.csv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AA488-FA07-4AED-8206-6CECCD1AAC2F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</a:tblGrid>
              <a:tr h="7810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남은 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제외 사유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 결합 입력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22,366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정제·결합 CSV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의류·가방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18,814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 업종 3,552행 제외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EDA 대상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18,594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관광특구 등 220행 제외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가능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12,839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과거 매출 이력 부족 5,755행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186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CBBEF-DF09-4E2D-97EA-EB7852C5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연도별 관측 범위와 연간 완비 상권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43761-A1D7-42F6-9A0B-17173619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9F1AB-08A9-441F-9C38-C5DB0A28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관측 상권 수가 해마다 달라집니다. 가방은 특히 표본이 작습니다.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E62FB-B0AB-4669-93F9-CB80B000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04 / 36   05_EDA_연도별품질.csv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4FF8B-81A4-455F-8D2C-2AC7ACD31894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2209800"/>
                <a:gridCol w="2209800"/>
                <a:gridCol w="2209800"/>
                <a:gridCol w="2209800"/>
              </a:tblGrid>
              <a:tr h="35502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 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상권 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4분기 완비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934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838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3471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798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527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866CE-D207-4A71-B546-3D8F875C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결측을 0으로 채우지 않습니다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7448A-72F2-45D2-BE03-A0CEABB0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506EB-441F-4102-B905-2863E381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EDA: 결측 보존·변수별 비교 제외. 모델: 훈련 구간 중앙값 대체와 결측 표시. 인구는 업종별 행에 반복됩니다.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5F993-BB8F-4C9A-9515-76B33D57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05 / 36   05_EDA_연도별품질.csv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1DD08-9C78-466E-BDE5-A32C365F687D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</a:tblGrid>
              <a:tr h="55789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결측 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EDA 전체 대비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1.29%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8852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5737E-4168-4201-8BA5-443BCD28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결합 키와 비교 집단을 분리합니다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28952-8A13-4A85-A889-C5C7AC76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37906-DA7E-4A65-8FD6-2682BB4C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고정 패널은 신규·미관측 상권을 제외합니다. 전체 서울 시장 성장률로 일반화하지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06137-7D00-42AC-ACFB-BBDA2749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06 / 36   서울 패션상권 분석 · 상세 결과보고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0011D-67A4-4704-94E1-64DF1AB648F5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86750"/>
              </a:tblGrid>
              <a:tr h="55789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연결·표본 기준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매출·점포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분기 + 상권코드 + 업종코드, 1:1 왼쪽 결합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분기 + 상권코드, 다대일 왼쪽 결합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상권코드, 과거 경계 동일성 미확인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5년 추세·연령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20분기 완비·유형 동일 758개 상권·업종 조합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연간 분포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연도 4분기 완비·유형 동일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 상관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2025Q4, 같은 업종·유형, 변수별 결측 제외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148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5C154-D686-4261-8BFB-5BB7F461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일반의류 · 동일 상권의 5년 매출 변화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03F94-8920-408C-9910-4A7FBC21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BF317-29DB-45EE-B416-F5981FD8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2021=100 지수. 2021년은 비교 시작점이며 정상 수요 기준이나 코로나 이전 기준이 아닙니다. 물가 미조정.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C1CA5-35C6-4758-B462-6D6E0845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07 / 36   07_EDA_고정상권_연도매출.csv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C2327-77F8-417C-BEB2-932F6975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8CB346E-5DA2-45CF-A97D-3AC4347FEECD}"/>
              </a:ext>
            </a:extLst>
          </p:cNvPr>
          <p:cNvGraphicFramePr/>
          <p:nvPr/>
        </p:nvGraphicFramePr>
        <p:xfrm>
          <a:off xmlns:a="http://schemas.openxmlformats.org/drawingml/2006/main" x="714375" y="1685925"/>
          <a:ext xmlns:a="http://schemas.openxmlformats.org/drawingml/2006/main" cx="1076325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330bf5004449cc"/>
          </a:graphicData>
        </a:graphic>
      </p:graphicFrame>
    </p:spTree>
    <p:extLst>
      <p:ext uri="{BB962C8B-B14F-4D97-AF65-F5344CB8AC3E}">
        <p14:creationId xmlns:p14="http://schemas.microsoft.com/office/powerpoint/2010/main" val="903139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44AB4-6011-4FD5-BA35-149D6232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가방 · 동일 상권의 5년 매출 변화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EFFF6-5EF1-40DB-83DE-41A877D5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7A083-3B20-425F-90EE-6161679C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2021=100 지수. 2021년은 비교 시작점이며 정상 수요 기준이나 코로나 이전 기준이 아닙니다. 물가 미조정.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2554F-F111-4BD3-B2CF-3B57AB87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08 / 36   07_EDA_고정상권_연도매출.csv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1D33D-BA81-4DDE-8036-780F59BC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CF82697-A6C4-4209-9803-275CC99FBB69}"/>
              </a:ext>
            </a:extLst>
          </p:cNvPr>
          <p:cNvGraphicFramePr/>
          <p:nvPr/>
        </p:nvGraphicFramePr>
        <p:xfrm>
          <a:off xmlns:a="http://schemas.openxmlformats.org/drawingml/2006/main" x="714375" y="1685925"/>
          <a:ext xmlns:a="http://schemas.openxmlformats.org/drawingml/2006/main" cx="1076325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0116cceec04a34"/>
          </a:graphicData>
        </a:graphic>
      </p:graphicFrame>
    </p:spTree>
    <p:extLst>
      <p:ext uri="{BB962C8B-B14F-4D97-AF65-F5344CB8AC3E}">
        <p14:creationId xmlns:p14="http://schemas.microsoft.com/office/powerpoint/2010/main" val="10795544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FF218-7FD5-4061-AB04-F71D318D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2021년 매출 규모와 소비 연령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BC09E-818F-4C05-ADE2-3752DB4F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F10A8-5A4B-4DE5-98D7-2B8F631B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전체 매출 대비 비중. 연령 합계를 100%로 재정규화하지 않으며, 잔차를 외국인 매출로 단정하지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C1973-C69C-4CE4-9CAB-2C2C2E6F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09 / 36   고정 20분기 원자료 재집계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8518E-0354-4280-8E11-F439B837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7524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FB1494A-021B-4211-8A8C-1271E8D6242F}"/>
              </a:ext>
            </a:extLst>
          </p:cNvPr>
          <p:cNvGraphicFramePr/>
          <p:nvPr/>
        </p:nvGraphicFramePr>
        <p:xfrm>
          <a:off xmlns:a="http://schemas.openxmlformats.org/drawingml/2006/main" x="714375" y="1695450"/>
          <a:ext xmlns:a="http://schemas.openxmlformats.org/drawingml/2006/main" cx="723900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f2a498933441f1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29619-62E9-4213-B1AF-671E20E47B64}"/>
              </a:ext>
            </a:extLst>
          </p:cNvPr>
          <p:cNvGraphicFramePr/>
          <p:nvPr/>
        </p:nvGraphicFramePr>
        <p:xfrm>
          <a:off xmlns:a="http://schemas.openxmlformats.org/drawingml/2006/main" x="8286750" y="1695450"/>
          <a:ext xmlns:a="http://schemas.openxmlformats.org/drawingml/2006/main" cx="3333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619250"/>
              </a:tblGrid>
              <a:tr h="51707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상권 유형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매출(억원)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골목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4,240.2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발달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48,112.6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전통시장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6,307.0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골목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47.8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발달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884.3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전통시장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471.8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1352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70D75-1607-473D-9DA4-94DFE1B8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2022년 매출 규모와 소비 연령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618FF-2114-444E-989E-34AF4261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6412F-F7FE-4EAB-82DF-204473BA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전체 매출 대비 비중. 연령 합계를 100%로 재정규화하지 않으며, 잔차를 외국인 매출로 단정하지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3B0C4-901C-4AD1-8B8F-B95BC717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10 / 36   고정 20분기 원자료 재집계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3D50A-DDF6-4187-9A12-E6A69D3C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7524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7A5FFD7-406C-45AE-9247-DDD94519B94A}"/>
              </a:ext>
            </a:extLst>
          </p:cNvPr>
          <p:cNvGraphicFramePr/>
          <p:nvPr/>
        </p:nvGraphicFramePr>
        <p:xfrm>
          <a:off xmlns:a="http://schemas.openxmlformats.org/drawingml/2006/main" x="714375" y="1695450"/>
          <a:ext xmlns:a="http://schemas.openxmlformats.org/drawingml/2006/main" cx="723900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e70bf98d8e409a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303E7-373B-4A60-9C49-6092E896F59F}"/>
              </a:ext>
            </a:extLst>
          </p:cNvPr>
          <p:cNvGraphicFramePr/>
          <p:nvPr/>
        </p:nvGraphicFramePr>
        <p:xfrm>
          <a:off xmlns:a="http://schemas.openxmlformats.org/drawingml/2006/main" x="8286750" y="1695450"/>
          <a:ext xmlns:a="http://schemas.openxmlformats.org/drawingml/2006/main" cx="3333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619250"/>
              </a:tblGrid>
              <a:tr h="51707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상권 유형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매출(억원)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골목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5,541.6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발달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46,418.4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전통시장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6,691.9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골목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62.9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발달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1,029.7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전통시장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415.4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8131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772C5-B555-41BB-8607-434E76C0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2023년 매출 규모와 소비 연령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55148-C867-4E81-B533-73D0D124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39576-A4A5-480C-8EDA-E83174F2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전체 매출 대비 비중. 연령 합계를 100%로 재정규화하지 않으며, 잔차를 외국인 매출로 단정하지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678B5-C39C-40E3-866B-0DBAC856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11 / 36   고정 20분기 원자료 재집계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C033C-77BD-4201-9B22-54E62EE7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7524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6ADC786-CCA4-4E31-A7EC-A960C76E05A0}"/>
              </a:ext>
            </a:extLst>
          </p:cNvPr>
          <p:cNvGraphicFramePr/>
          <p:nvPr/>
        </p:nvGraphicFramePr>
        <p:xfrm>
          <a:off xmlns:a="http://schemas.openxmlformats.org/drawingml/2006/main" x="714375" y="1695450"/>
          <a:ext xmlns:a="http://schemas.openxmlformats.org/drawingml/2006/main" cx="723900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b6bc8f78194d12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27E9F-23F5-4882-AC48-561A9BA40E31}"/>
              </a:ext>
            </a:extLst>
          </p:cNvPr>
          <p:cNvGraphicFramePr/>
          <p:nvPr/>
        </p:nvGraphicFramePr>
        <p:xfrm>
          <a:off xmlns:a="http://schemas.openxmlformats.org/drawingml/2006/main" x="8286750" y="1695450"/>
          <a:ext xmlns:a="http://schemas.openxmlformats.org/drawingml/2006/main" cx="3333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619250"/>
              </a:tblGrid>
              <a:tr h="51707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상권 유형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매출(억원)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골목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5,839.0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발달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49,660.1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전통시장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6,537.6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골목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50.8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발달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937.6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전통시장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769.3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337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74DFA-19F1-4F4D-AEF6-EABBD468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2024년 매출 규모와 소비 연령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1C25E-B6D2-4391-9927-0ACD284A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49F69-DD40-45C6-B3F2-F10ECFCB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전체 매출 대비 비중. 연령 합계를 100%로 재정규화하지 않으며, 잔차를 외국인 매출로 단정하지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D08C6-CB20-4BC1-9E99-47108AA7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12 / 36   고정 20분기 원자료 재집계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48CF2-C455-440F-B080-2315522D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7524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3EB4D8B-0A5D-4699-ABF3-B85707EB6D5C}"/>
              </a:ext>
            </a:extLst>
          </p:cNvPr>
          <p:cNvGraphicFramePr/>
          <p:nvPr/>
        </p:nvGraphicFramePr>
        <p:xfrm>
          <a:off xmlns:a="http://schemas.openxmlformats.org/drawingml/2006/main" x="714375" y="1695450"/>
          <a:ext xmlns:a="http://schemas.openxmlformats.org/drawingml/2006/main" cx="723900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5e84ea30b449fb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360BA-3B98-4937-BAE1-B042E9100663}"/>
              </a:ext>
            </a:extLst>
          </p:cNvPr>
          <p:cNvGraphicFramePr/>
          <p:nvPr/>
        </p:nvGraphicFramePr>
        <p:xfrm>
          <a:off xmlns:a="http://schemas.openxmlformats.org/drawingml/2006/main" x="8286750" y="1695450"/>
          <a:ext xmlns:a="http://schemas.openxmlformats.org/drawingml/2006/main" cx="3333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619250"/>
              </a:tblGrid>
              <a:tr h="51707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상권 유형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매출(억원)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골목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5,270.0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발달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51,811.5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전통시장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6,189.7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골목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60.4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발달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961.7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전통시장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711.4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2153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AE3AF-1BE0-429E-B5A2-E3309E35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2025년 매출 규모와 소비 연령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1103A-D56C-4DC2-B750-05CB795E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15475-D851-423F-8D33-87FF6CC7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전체 매출 대비 비중. 연령 합계를 100%로 재정규화하지 않으며, 잔차를 외국인 매출로 단정하지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AC471-1545-4FF8-BF7E-890EB4CD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13 / 36   고정 20분기 원자료 재집계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CDDB0-6B37-476A-BFDB-AA2A9C6B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7524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39D7D8E-A0A4-451A-8670-B6BED6793F6D}"/>
              </a:ext>
            </a:extLst>
          </p:cNvPr>
          <p:cNvGraphicFramePr/>
          <p:nvPr/>
        </p:nvGraphicFramePr>
        <p:xfrm>
          <a:off xmlns:a="http://schemas.openxmlformats.org/drawingml/2006/main" x="714375" y="1695450"/>
          <a:ext xmlns:a="http://schemas.openxmlformats.org/drawingml/2006/main" cx="723900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cb153fc6084b80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78363-73BC-424F-B43F-5CBB35BCF585}"/>
              </a:ext>
            </a:extLst>
          </p:cNvPr>
          <p:cNvGraphicFramePr/>
          <p:nvPr/>
        </p:nvGraphicFramePr>
        <p:xfrm>
          <a:off xmlns:a="http://schemas.openxmlformats.org/drawingml/2006/main" x="8286750" y="1695450"/>
          <a:ext xmlns:a="http://schemas.openxmlformats.org/drawingml/2006/main" cx="3333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619250"/>
              </a:tblGrid>
              <a:tr h="51707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상권 유형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매출(억원)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골목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5,056.8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발달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50,365.7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전통시장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6,539.1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골목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발달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915.9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전통시장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723.8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80904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28439-A830-4784-905E-DA4CE4E7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2025년 매출 분포 · 작은 상권과 큰 상권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E3CC2-DDE5-4C7E-ACCE-18051A68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80923-3F21-4E0F-8E0E-AE63185C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가로축 log10(1+연간 매출 억원), 세로축 상권 수. 4분기 완비 상권, 자동 이상치 삭제 없음.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309D9-8B2B-49FA-836A-0077706D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14 / 36   환경 결합 원자료의 연간 합계 재집계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4E801-22DC-42DA-AE76-4EF1B5BF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일반의류 (n=798)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A5E03-DCD5-48E3-BE3A-FD4F7808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429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1E38E64-02F6-4D76-82D6-F12271535F20}"/>
              </a:ext>
            </a:extLst>
          </p:cNvPr>
          <p:cNvGraphicFramePr/>
          <p:nvPr/>
        </p:nvGraphicFramePr>
        <p:xfrm>
          <a:off xmlns:a="http://schemas.openxmlformats.org/drawingml/2006/main" x="714375" y="1924050"/>
          <a:ext xmlns:a="http://schemas.openxmlformats.org/drawingml/2006/main" cx="5143500" cy="3390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d4a55545c941f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185D5-7568-4617-934B-C394E1ED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0970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가방 (n=50)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59753-DDE0-4AFB-909F-47364303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429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0B10C3C7-05FA-46F6-AF3A-868BBF9AF02A}"/>
              </a:ext>
            </a:extLst>
          </p:cNvPr>
          <p:cNvGraphicFramePr/>
          <p:nvPr/>
        </p:nvGraphicFramePr>
        <p:xfrm>
          <a:off xmlns:a="http://schemas.openxmlformats.org/drawingml/2006/main" x="6334125" y="1924050"/>
          <a:ext xmlns:a="http://schemas.openxmlformats.org/drawingml/2006/main" cx="5143500" cy="3390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49a1a777164c55"/>
          </a:graphicData>
        </a:graphic>
      </p:graphicFrame>
    </p:spTree>
    <p:extLst>
      <p:ext uri="{BB962C8B-B14F-4D97-AF65-F5344CB8AC3E}">
        <p14:creationId xmlns:p14="http://schemas.microsoft.com/office/powerpoint/2010/main" val="12681940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F059717-EF35-458C-A6DC-0257D38C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동일 유형의 매출 박스플롯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9C6DA-409E-47D2-A9E2-1EA6BAF5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993A8-0743-4E3E-B059-6166084E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억원, 0.1억 이상 로그 눈금. 상자=Q1~Q3, 선=중앙값, 수염=1.5 IQR 이내, 점=범위 밖 관측값. 작은 표본 주의.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BBAF6-64A2-46C8-BA64-BABDA536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15 / 36   06_EDA_매출분포요약.csv 및 원자료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C828D-8FAF-4C76-82E6-B9A993FB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6192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07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0DCB8-9E55-4058-832D-91905055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91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6032F-4767-4B23-8DBF-D09E5BCC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66" y="16192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07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71E16-E5B9-4BD8-AE81-07A66542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566" y="5191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0.1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E1932-EECE-44FB-862B-B744A250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257" y="16192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07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92477-3BBF-4C9C-B5F7-4F4ED0CC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757" y="5191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D4248-E7B9-452C-83AD-9873E3CB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447" y="16192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07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609FD-F302-4EF2-9C4A-7F272BA4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947" y="5191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7DFAE-513D-4F20-983C-FBD76D98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638" y="16192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07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357CE-8507-4098-818D-429BD2F0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138" y="5191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F6EE7-B28C-4C6E-B0F6-0362506C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829" y="16192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07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506E5-6BAF-46E6-9DC2-08D59D1A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329" y="5191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12E53-46F0-4618-87C8-96001192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020" y="16192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07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F250A-E9CF-4FB6-82AC-2E0D51EB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520" y="5191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10000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462D2E-35AF-40F0-A9AD-D4E541FA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의류 골목</a:t>
            </a:r>
          </a:p>
          <a:p xmlns:a="http://schemas.openxmlformats.org/drawingml/2006/main">
            <a: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n=408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B0CBC-E315-43C9-9565-18EF08D6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582" y="1885950"/>
            <a:ext cx="41573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8F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EE657-0DB1-4ECB-883D-013DE44E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582" y="180022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CF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EFEC70-ADA8-4392-AA73-92BBA876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890" y="180022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CF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5C155-64AC-4525-B6E9-A073E308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685" y="1743075"/>
            <a:ext cx="139083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AB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0D6874-0BDB-471F-A6D7-1BB5FADB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559" y="172402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F98967-6111-4A6C-ACEE-AAFB06AC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492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C2F74-1654-4374-A71A-6D386FA8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414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8CA5B2-A265-4673-AFB1-2CF6D80A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219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61BD81-D7AE-4102-BBC0-62285699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214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19AA8-34C8-46D7-8011-C72B96E8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240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2C5337-3DC3-4F09-9685-6266271F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7052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284C70-47E1-4FFF-ADC4-C8E317A2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537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33EE86-54D9-45CE-A929-72577BE8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880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2A0B0F-A6E6-4AB5-BBFE-6915F695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392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BE5C9B-3065-44A2-87AB-6218C7CB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159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6F7233-F427-4EDE-95BB-225F38EF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615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326F24-BFE5-4C98-B113-FB7A5DA5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6482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8893AF-1BD2-464E-BE70-A8DE41CC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0341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2EDB8F-F4F0-4984-B1C2-24A64BA5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552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0A938B-A000-4376-BE6F-90103E53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6802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F6CB13-6D14-4583-B525-2B8088DF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001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D3D740-76F9-4242-9284-640B6027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7025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04EF9D-C7E6-499C-8A20-60AAEB8C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9161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1C668B-5306-4AF8-9FB1-E72F53DB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293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DF1D78-5A2B-44A0-BF3B-3FBF8AF8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8634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5AB919-C9BF-4B1B-A1CA-0BEAC2DD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849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FA0158-EAEC-4508-B497-0AB8A188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682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C915D1-7790-4419-9599-8826A0B2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0748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992528-BEB6-4ED3-BD90-8EC7983C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632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8EBE44-C765-4EF5-8D57-DC8D5E91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022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0BA333-0E3D-453D-9BA5-06978950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591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A086863-5AFA-4874-8FD2-0EE12864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377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297507-F7CD-465B-A77A-D51A9F48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450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D4FE4F-1FB3-4485-98AB-2CE4A0B5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176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85DFC3-5D1D-4E0B-99C8-EB39168A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1489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3E9F40-4C63-4145-ABA3-7F69CF6D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277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CD9349-B6A6-43A9-992C-8450B44C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097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E4A3FEA-99A0-426F-A340-30D09E52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087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DBF265-9391-4457-9040-667B7DF9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179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10C7F13-90DA-4139-86F6-01E1E7B7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082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5EE830-125C-4940-92CD-E277461E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622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D0224B-033F-40C2-84F8-DF6F3D98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536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359E439-F5D8-4024-97C5-64E7323A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584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7EB9C8-4242-413B-A67E-CEB36D21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691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B62592-092F-472F-AB37-0727D06B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2649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67B49BE-F605-47A3-87F9-7B08C32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058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2781346-C621-47F1-858C-ABAD9D35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328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3A28CD-B670-4C88-BD14-38A525CE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841" y="186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50E8983-77D5-436A-8026-5B8C8AA2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193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의류 발달</a:t>
            </a:r>
          </a:p>
          <a:p xmlns:a="http://schemas.openxmlformats.org/drawingml/2006/main">
            <a: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n=208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427166-226D-414D-9C66-8A11FF08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113" y="2428875"/>
            <a:ext cx="50347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8F4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B796AD2-D0AB-4A92-BB1E-847D745F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113" y="23431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CF3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116B951-4C1C-42EF-8E14-E5AFD53A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873" y="23431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CF3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C56E7F2-61F3-462D-B3FA-F3F21F95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540" y="2286000"/>
            <a:ext cx="1647929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AB7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3BCFA79-2FF6-479C-9E7C-5A2F6624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850" y="22669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F04EF29-433A-4589-9C3F-B5C34E3D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6203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E360BC5-07D9-43E0-97B2-8D20A1F6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5032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4BB5AA2-F1C3-447F-8D07-7FD2B0B3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130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C727E3F-F867-4F00-8DD2-2DCF3A12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429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D577B5D-020C-4D63-A345-A7D71FB3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387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3490619-480F-41AD-8807-BD9C304D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957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1F3E520-6D06-4697-BEA2-CACE0DF3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593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C695CA1-3BC8-4982-B452-00803B77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1230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1311FB2-53E5-453F-AF7E-BC9A81E1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481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149F3B2-ED56-4375-9A02-A66EF9EC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902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F342BB0-F381-42E3-8395-08FB4893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973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98A6B8E-6051-4149-9EEE-D69A170A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528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A5C9F0A-625A-4E4D-B7D3-6C7839B2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567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981BC46-D156-4BCA-B8F4-F25F60F6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455114B-28E6-4864-801C-E3876B70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858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A3C312B-FA9F-4F3C-A8CC-81C089A5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072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D82596F-C255-4D86-A703-A4B6600E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964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678D579-A5A1-4118-94E1-E5A0C955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138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3ECCC6B-77AE-40B3-8AE1-25CB1F18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533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CFA17E-559E-4B2C-8604-F1595BE5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337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8B97C5A-6133-408D-AB81-45261377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447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7F3DBDE-262D-4F1B-9406-C69CFF77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43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2FF9948-E244-4CE0-BAC2-2126501A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868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D838EBE-314D-482E-890D-50D94AB3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996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0C1863C-F9B2-4D35-9BEA-2C4AC792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8292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7DA4447-0C16-48E5-BAE6-3B602EC1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788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0D60F95-8047-4AFA-BC23-CA88A1B3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2544" y="240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3E8546D-FCAF-49C2-881F-6906EA81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의류 전통시장</a:t>
            </a:r>
          </a:p>
          <a:p xmlns:a="http://schemas.openxmlformats.org/drawingml/2006/main">
            <a: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n=182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A8AB420-8880-4714-B4F0-2A098558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315" y="2971800"/>
            <a:ext cx="412754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8F4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D4FB99A-FAA7-4AFC-B0BC-7EC9AF30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315" y="288607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CF3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24C23A9-75EF-48F1-8162-D7233D81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859" y="288607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CF3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0B41574-BF96-402D-8EE8-342FFD67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143" y="2828925"/>
            <a:ext cx="117562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AB7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440C6A5-F667-4A91-B677-98FB107B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192" y="280987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B82517A-F412-4AC4-A5CA-A0C8E976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332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EBC2947-8FC1-4580-A624-81807563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942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28165B6-7A35-4DC2-B114-7D9AFE84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2115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E80A684-258A-47A7-B5ED-1833BAB2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50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D629176-5711-4E4A-B239-3A49AD1B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069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D43CA5B-8AC6-4B1A-A068-EA2C2E38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796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499BC03-FB1A-4158-BA5E-B2F0FD08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359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8526266-DE2C-4261-9E38-9D2A885D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476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AEEB086-5271-4015-9CF2-2186289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503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A679010-F40E-41A5-ABA7-31A8FADE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195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D97ABC9-E6D9-430E-9A24-B620A244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977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B986145-05D7-4097-852E-DE86F35E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329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A621E7D-3EF0-413F-AECD-81A7E997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917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2A11A20-1B21-4A64-B7AD-5E1E19F9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119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46DDD5D-0726-415F-90F6-85974E06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459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35E3349-A20F-453C-9E53-08A86202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989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DC97602-F992-4555-8C4B-D5B74460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115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C6A21BB-83AE-495F-8599-732A2614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450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0DBC7FD-C6F8-43B6-A377-96DC059D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297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621D373-124D-4ADC-99E9-EFCA9ACB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013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4537FC1-BD27-455B-8F1E-75395B70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367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3AF1C2E-B3E3-4A83-AB7E-F52D65A3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848" y="2952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1076161-FD1A-4BB6-8E4C-72DF43D2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051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가방 골목</a:t>
            </a:r>
          </a:p>
          <a:p xmlns:a="http://schemas.openxmlformats.org/drawingml/2006/main">
            <a: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n=7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F37E895-4B49-4B0C-841B-898A24B6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000" y="3514725"/>
            <a:ext cx="323892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8F4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94FF83C-8F47-41AD-96B9-AED6511C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000" y="34290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CF3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31F27CD-287D-4C51-9856-2AE66A5F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927" y="34290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CF3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8614063-05DC-479C-BC47-AAADD63A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236" y="3371850"/>
            <a:ext cx="84461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8C8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952E85B-3FAF-4178-AB91-1BABAA18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358" y="335280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27D1E3A-8236-427F-B49D-C40BDF40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568" y="34956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611CAA7-41D5-48A6-826E-61335434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가방 발달</a:t>
            </a:r>
          </a:p>
          <a:p xmlns:a="http://schemas.openxmlformats.org/drawingml/2006/main">
            <a: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n=29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7FC0EDC-862E-43EB-B31E-DE3D91B8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625" y="4057650"/>
            <a:ext cx="471337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8F4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8039522-8775-46F5-840F-A196634E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625" y="397192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CF3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C410587-D92C-4965-8576-D82ED808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001" y="397192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CF3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960484C-2941-4A36-A39B-AA021E5F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239" y="3914775"/>
            <a:ext cx="2057941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8C8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9F89229-88DF-4338-B4F5-F3E092A1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773" y="389572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FEB6544-5D26-4BFF-AB33-BE700D9D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8065" y="40386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92288AC-8BAC-46B9-9085-20126B46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07" y="40386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26200D9-1BF1-4129-8D16-DCE4911A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667" y="40386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399A112-DD37-4697-AD97-2E127BD5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가방 전통시장</a:t>
            </a:r>
          </a:p>
          <a:p xmlns:a="http://schemas.openxmlformats.org/drawingml/2006/main">
            <a:pPr>
              <a:def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n=14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3A46C1B-2C80-45D6-980D-8DE7A476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868" y="4600575"/>
            <a:ext cx="284926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8F4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E9FC753-5A62-4903-8644-DE14F2DE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868" y="45148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CF3"/>
          </a:solidFill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03016F9-C45C-4859-933E-16CA25A4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137" y="45148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CF3"/>
          </a:solidFill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F6EB27A-D217-459A-8942-AE2136B6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072" y="4457700"/>
            <a:ext cx="1038461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8C8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0ECA19E-5BB5-4796-93B4-95FFF6AC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452" y="44386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A233E48-F7D5-4E1A-869D-1D553FA3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669" y="45815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5864B2F-FD20-42D0-81F7-A6FD9825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042" y="45815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47AB5CB-69D1-490C-801E-485B00E5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5483" y="45815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5F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830276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4E605-6D91-4D5A-936B-AC48E6E0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평균·중앙값·표본 수를 함께 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5ACF7-30CB-41D5-9390-550F442C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CD466-C26E-402E-B138-2CF6C5D4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상한 초과는 오류 판정이 아닙니다. 큰 상권의 매출이 평균을 높이는 구조를 보여줍니다.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7C610-DBE3-4FE0-9BE3-5FBDB598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16 / 36   06_EDA_매출분포요약.csv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877FA-3A66-4A2E-B855-CE63C0F07396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2209800"/>
                <a:gridCol w="2209800"/>
                <a:gridCol w="2209800"/>
                <a:gridCol w="2209800"/>
              </a:tblGrid>
              <a:tr h="55789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업종·유형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상권 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평균(억)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중앙값(억)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상한 초과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골목상권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발달상권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40.48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전통시장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51.87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 골목상권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 발달상권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242.27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22.93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 전통시장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36.47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7.97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8193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A98D7-49BA-4CD4-966D-8391809D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환경과 매출의 관계 · 순위상관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F1F71-9DB3-409E-8542-457BEEF3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1BA34-33ED-4C4D-ACA4-35781B7F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2025Q4 같은 업종·유형 내부 비교. -1~+1 지표이며 인과관계·구매 전환율이 아닙니다.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38506-119B-47A5-AA68-939EA1A3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17 / 36   09_EDA_환경과매출_순위상관.csv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2E847-804F-4290-AD33-42FE714A7B5B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2209800"/>
                <a:gridCol w="2209800"/>
                <a:gridCol w="2209800"/>
                <a:gridCol w="2209800"/>
              </a:tblGrid>
              <a:tr h="55789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업종·유형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유동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골목상권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-0.59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(n=10)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-0.54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(n=10)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-0.16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(n=10)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+0.80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(n=10)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발달상권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-0.17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(n=32)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-0.23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(n=31)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+0.14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(n=32)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+0.68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(n=32)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전통시장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-0.01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(n=15)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-0.62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(n=14)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+0.34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(n=15)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+0.81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(n=15)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 골목상권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+0.00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(n=441)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-0.03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(n=441)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+0.20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(n=441)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+0.49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(n=442)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 발달상권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+0.23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(n=215)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+0.17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(n=212)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+0.19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(n=214)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+0.64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(n=215)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 전통시장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+0.19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(n=187)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+0.07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(n=181)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+0.38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(n=184)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+0.68</a:t>
                      </a:r>
                    </a:p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(n=187)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70798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D775C-829D-46FD-9C84-F9DD1F52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EDA가 상품 기획에 주는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F9408-7464-40DD-97DD-96D3B036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BE2FD-62E1-4BE1-B55E-447A7B5C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상권 업종 매출을 신규 브랜드 매출이나 최적 스타일 수로 치환하지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A8573-AC43-4260-B30B-74027220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18 / 36   서울 패션상권 분석 · 상세 결과보고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55F2F-7075-4A85-AC8D-DF8D425B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규모: 전체 매출과 중앙값을 함께 비교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D2D5A-215E-4F5B-AE07-C04DC314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고객: 구매 연령과 방문 인구를 구분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8967F-9385-4A4F-AACB-B1939385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변화: 동일 상권·동일 분기 기준으로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FDE7C-0307-4E3B-965A-D1743812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품목: 의류·가방 관측 범위 차이를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6293726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3E904-AA1D-42DD-89C4-16FB191D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매출 예측 모델 · 26개 입력, 두 은닉층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617DA-405E-48CF-9B33-8E3DC2EC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FD2CF-218B-4C26-86E3-8D012C99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MLP 회귀. 출력 ln(목표 매출/전년 동분기 매출), 지수 변환 후 매출 환산. 신규 브랜드 매출 예측 아님.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3787D-3793-4E12-B90D-1A66FE8B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19 / 36   서울 패션상권 분석 · 상세 결과보고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C1CBC-672C-4B27-A3F1-E99C1C3F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C6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256FE-F12C-4ED6-868A-3A72514B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26개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9E739-75E2-4C78-B4DF-B6AC16F2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C6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B901A-182F-44E6-9883-32D404E6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32 노드</a:t>
            </a:r>
          </a:p>
          <a:p xmlns:a="http://schemas.openxmlformats.org/drawingml/2006/main">
            <a: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ReLU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FF298-B55D-4185-BF3B-275310A8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C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C9396-3A70-4E9D-B269-8F716052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16 노드</a:t>
            </a:r>
          </a:p>
          <a:p xmlns:a="http://schemas.openxmlformats.org/drawingml/2006/main">
            <a: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ReLU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41D95-0A83-4D97-98CD-1BE5EAC2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95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C6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00B10-F0FE-4E1B-9769-EC30F6B8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860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출력 1개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0BDB8-D7EF-456A-91A6-12211A61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매출 변화비를 예측한 뒤 전년 동분기 매출에 곱해 환산</a:t>
            </a:r>
          </a:p>
          <a:p xmlns:a="http://schemas.openxmlformats.org/drawingml/2006/main">
            <a:pPr>
              <a:defRPr sz="21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세 가지 난수 시드의 로그 출력 평균 사용</a:t>
            </a:r>
          </a:p>
        </p:txBody>
      </p:sp>
    </p:spTree>
    <p:extLst>
      <p:ext uri="{BB962C8B-B14F-4D97-AF65-F5344CB8AC3E}">
        <p14:creationId xmlns:p14="http://schemas.microsoft.com/office/powerpoint/2010/main" val="1579402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D585D-889C-47AF-9AE0-B336E512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입력 26개를 어떻게 구성했는가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26D3A-762C-4CB2-8436-0C1F7EFB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7EDEC-CF6B-44E1-8F0E-409B47F4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숫자 입력 log1p 후 훈련 구간 기준 대체·표준화. 상권 이름·후보 여부·미래 매출은 입력 제외.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C843C-ED3A-48BB-9D6D-A43759AE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20 / 36   서울 패션상권 분석 · 상세 결과보고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E8578-68A5-4319-9DE9-EE8814A2D492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</a:tblGrid>
              <a:tr h="55789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 이력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t-2, t-3, t-4, t-5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환경·거래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유동·상주·직장·점포·거래 t-2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결측 표시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9개 숫자 입력의 결측 여부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 분기 원핫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상권 유형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골목·발달·전통시장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여부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9806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483FE-78A5-451F-AD5C-F7199BFD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8개 평가 분기와 학습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58149-E0C7-44FA-BEF3-4EAA22AA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797A9-229A-45F0-A36E-7BA2A7FC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입력과 훈련 정답은 t-2까지. 실제 공개일·과거 개정본 검증은 미완료. 2024 선택, 2025 탐색 평가.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ECEAD-386B-498C-AB61-DF509568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21 / 36   10_모델_시계열분할.csv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8D034-2C8C-448D-9A4F-6CDE03AFCA82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762250"/>
                <a:gridCol w="2762250"/>
                <a:gridCol w="2762250"/>
              </a:tblGrid>
              <a:tr h="433917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분기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훈련 정답 마지막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2023Q3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5,170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2023Q4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6,038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2024Q1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6,902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2024Q2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7,766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857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2024Q3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8,618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2024Q4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9,475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843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2025Q1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10,324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839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2025Q2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11,167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9238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FCF67-D555-44EB-BD75-0F481815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훈련 손실은 줄지만 평가 성능은 별개입니다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963E4-FED3-425E-9D5B-C7B9D7E1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7595E-CF3D-4075-8BDE-E5533541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2025Q4 모델 훈련 손실. Adam lr=0.001, L2=0.001, 100·250회 비교, 시드 17·83·131. 25회 간격의 전체 기록값 표시.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EE17C-563E-42B5-B241-33D4D53D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22 / 36   20261019_환경결합딥러닝/05_학습곡선.csv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54FB0-6B0A-4B3E-A840-7FD47248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74E3EF7-4595-4E0B-9418-0D265402BA93}"/>
              </a:ext>
            </a:extLst>
          </p:cNvPr>
          <p:cNvGraphicFramePr/>
          <p:nvPr/>
        </p:nvGraphicFramePr>
        <p:xfrm>
          <a:off xmlns:a="http://schemas.openxmlformats.org/drawingml/2006/main" x="714375" y="1685925"/>
          <a:ext xmlns:a="http://schemas.openxmlformats.org/drawingml/2006/main" cx="1076325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c3a538906b4466"/>
          </a:graphicData>
        </a:graphic>
      </p:graphicFrame>
    </p:spTree>
    <p:extLst>
      <p:ext uri="{BB962C8B-B14F-4D97-AF65-F5344CB8AC3E}">
        <p14:creationId xmlns:p14="http://schemas.microsoft.com/office/powerpoint/2010/main" val="11594211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ADC62-FFD9-4A15-BBED-C5CBFF8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일반의류 · 2025년 동일 평가행의 모델 오차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54176-C733-46B2-BF4F-0BF644DE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54A14-34B2-4684-8A36-D3F9D538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WAPE(%), 낮을수록 좋음. Σ|예측−실제| ÷ Σ실제 × 100. 큰 매출 상권의 영향을 많이 받습니다.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E951C-D5F9-4B5E-83C3-72D28497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23 / 36   04_원예측으로_재계산한지표.csv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AFAC5-341D-43DC-A120-5F4EC0A3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B322268-89C8-47B3-B2DB-BE35BCDA8BD4}"/>
              </a:ext>
            </a:extLst>
          </p:cNvPr>
          <p:cNvGraphicFramePr/>
          <p:nvPr/>
        </p:nvGraphicFramePr>
        <p:xfrm>
          <a:off xmlns:a="http://schemas.openxmlformats.org/drawingml/2006/main" x="714375" y="1685925"/>
          <a:ext xmlns:a="http://schemas.openxmlformats.org/drawingml/2006/main" cx="1076325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5cd135c7e4492d"/>
          </a:graphicData>
        </a:graphic>
      </p:graphicFrame>
    </p:spTree>
    <p:extLst>
      <p:ext uri="{BB962C8B-B14F-4D97-AF65-F5344CB8AC3E}">
        <p14:creationId xmlns:p14="http://schemas.microsoft.com/office/powerpoint/2010/main" val="6967177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B67C9-3C21-4B8F-AC30-F22C61A5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가방 · 2025년 동일 평가행의 모델 오차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078EE-16A3-4FE4-8546-900C5FDA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CAF5F-80C9-4050-9C3C-BCE64E95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WAPE(%), 낮을수록 좋음. Σ|예측−실제| ÷ Σ실제 × 100. 큰 매출 상권의 영향을 많이 받습니다.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0FBFE-0FE3-4E8D-9DC0-DAF80206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24 / 36   04_원예측으로_재계산한지표.csv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B38E2-8E7A-4204-A37A-0C381444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32D7F31-FF60-497D-ADA8-AAEEEFC90185}"/>
              </a:ext>
            </a:extLst>
          </p:cNvPr>
          <p:cNvGraphicFramePr/>
          <p:nvPr/>
        </p:nvGraphicFramePr>
        <p:xfrm>
          <a:off xmlns:a="http://schemas.openxmlformats.org/drawingml/2006/main" x="714375" y="1685925"/>
          <a:ext xmlns:a="http://schemas.openxmlformats.org/drawingml/2006/main" cx="1076325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812c20326d46cf"/>
          </a:graphicData>
        </a:graphic>
      </p:graphicFrame>
    </p:spTree>
    <p:extLst>
      <p:ext uri="{BB962C8B-B14F-4D97-AF65-F5344CB8AC3E}">
        <p14:creationId xmlns:p14="http://schemas.microsoft.com/office/powerpoint/2010/main" val="14166500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C0872-2597-4F59-BFAA-5C4FDB54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2024 설정선택 · 전체 성능 지표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8A31B-7DB5-4814-AB68-B4187960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F0843-90FC-4F53-B3AD-C8F782E9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MAE=평균 절대오차. 중앙 APE=상권별 절대백분율오차의 중앙값. 편향=(예측합/실제합−1)×100.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4F1EE-F30B-464A-9825-86A3E329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25 / 36   04_원예측으로_재계산한지표.csv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10B0A-2D55-4CCB-9846-53D11556173F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2286000"/>
                <a:gridCol w="762000"/>
                <a:gridCol w="1428750"/>
                <a:gridCol w="1619250"/>
                <a:gridCol w="2000250"/>
                <a:gridCol w="1809750"/>
              </a:tblGrid>
              <a:tr h="35502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WAPE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MAE 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 APE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편향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두기준평균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1.68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31.14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시차2기준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31.67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신경망100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23.66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34.27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-4.42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신경망250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29.61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33.01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전년동분기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2.05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41.25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1.93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두기준평균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3238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16.39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25.52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-1.14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시차2기준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3238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27.71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-0.46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신경망100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3238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24.53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4.82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27.99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신경망250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3238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23.77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25.61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-8.40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전년동분기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3238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19.13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27.69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-1.83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7928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F7AE7-65C8-4BD0-844C-75D86A47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2025 탐색평가 · 전체 성능 지표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BCC67-C23C-4BAA-8F26-A674301C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CC93D-BECE-488F-81F0-93AAD198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MAE=평균 절대오차. 중앙 APE=상권별 절대백분율오차의 중앙값. 편향=(예측합/실제합−1)×100.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2C9F0-EBFF-40EE-BF74-B7CB5D17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26 / 36   04_원예측으로_재계산한지표.csv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6708E-8717-4066-A061-667E59CE101D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2286000"/>
                <a:gridCol w="762000"/>
                <a:gridCol w="1428750"/>
                <a:gridCol w="1619250"/>
                <a:gridCol w="2000250"/>
                <a:gridCol w="1809750"/>
              </a:tblGrid>
              <a:tr h="35502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WAPE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MAE 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 APE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편향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두기준평균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25.31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시차2기준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29.08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-1.49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신경망100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24.64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2.38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30.39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-10.06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신경망250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20.72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27.09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-5.77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전년동분기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21.46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2.07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29.52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두기준평균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14.24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26.39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시차2기준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14.96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2.94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28.61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-1.24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신경망100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26.81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신경망250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15.80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25.45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-2.18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일반의류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전년동분기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16.80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29.04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1.87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02909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CB2AA-2FCA-4CBB-AA34-2577E193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후속 모델 선택 결과와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E6AAC-C16A-4523-8BC2-85CC9F29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35592-560C-40D7-A7E3-DA2B0B45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의류는 단순 모델 선택. 가방 혼합은 2025년 기준보다 악화. 신경망 우월성 미확인.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6B429-76A8-4224-ABAA-79197478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27 / 36   20261019_본부장보고_재검증/02_선택결과.csv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8F838-16A3-4C83-BA18-ADFC221E9BA5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762250"/>
                <a:gridCol w="2762250"/>
                <a:gridCol w="2762250"/>
              </a:tblGrid>
              <a:tr h="1301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 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 선택 WAPE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단순 기준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1301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두기준평균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14.24%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14.24%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1301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시차2 75% + NN100 25%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18.77%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18.40%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3816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CFB50-6EF6-47FD-AA1A-4A7E24DD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재현 검증과 확인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E62D3-1FFE-4A5C-80E2-4168C040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3A88C-A1FD-482B-8C89-019F5B9F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재현 일치는 계산 재현성을 뜻하며 미래 예측 정확도를 보증하지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8864D-4631-410D-BBB7-C2174672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28 / 36   재현검증_전체재학습.json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12D43-208B-4FAC-AC38-5957319E3AEB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86750"/>
              </a:tblGrid>
              <a:tr h="650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결과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실험 재학습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34,005개 예측, 기존 결과와 최대 차이 0원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후속 실험 재학습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6,801개 예측, 기존 결과와 최대 차이 0원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재생성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18,594행 기존 준비표의 전체 열 일치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3.12.14 / NumPy 2.3.5 / pandas 3.0.1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환경 결합 CSV, 원자료 ZIP부터 전면 재실행 아님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52767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58D6A-10AF-4C67-8C37-1FD5002C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핵심 비교 4곳과 성장 조사 2곳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C29A3-0420-4C90-936D-BD3A5023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88923-72D5-4ADD-B289-EA5926F7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서울 전체 관측 자료에서 비교한 후보입니다. 입점 확정이나 경쟁사 공백 입증은 아닙니다.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A1D60-1EFC-42DF-8BA8-25E4C4C3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29 / 36   20261020_판단근거보강/09_상품전개_판단근거.csv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35BCD-091E-4FB5-B299-20BE060DBB44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</a:tblGrid>
              <a:tr h="55789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단계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한강진역 3번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 기반 비교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공간·가격 조건 우선 비교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성수역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 기반 비교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공간·가격 조건 우선 비교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명동거리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 기반 비교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구매 감소 원인 확인 후 비교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가로수길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 기반 비교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공간·가격 조건 우선 비교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혜화동주민센터 상권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청년유동·타업종 소비 성장 조사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성장 조사 유지 · 품목 결정 유보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한강로동 땡땡거리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청년유동·타업종 소비 성장 조사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성장 조사 유지 · 품목 결정 유보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01292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84AB1-E63C-4F34-91EB-2905FDCE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상권별 근거와 반대 근거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05E42-9CA7-4F85-8E29-50D9C860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A62E2-45B3-48EF-A382-7DBD9564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매출·거래 변화는 기존 후보표의 2024~2025 비교. 단위 상권 코드 기준이며 주변 권역 전체를 대표하지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5A522-C74E-4034-918F-DC7D0803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30 / 36   09_상품전개_판단근거.csv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72B3B-476B-4CBD-81F3-A5149A11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54292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C6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D3CC5-573B-4DCB-B2DC-E6B0A66A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한강진역 3번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8744C-CF9A-415F-B584-9EAB2003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관측  의류 매출 +23.3%, 거래 +65.1%</a:t>
            </a:r>
          </a:p>
          <a:p xmlns:a="http://schemas.openxmlformats.org/drawingml/2006/main">
            <a: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가방 연간 증감 비교 자료 부족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45B84-0683-431D-8ADA-833F6C12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반대 근거</a:t>
            </a:r>
          </a:p>
          <a:p xmlns:a="http://schemas.openxmlformats.org/drawingml/2006/main">
            <a: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가방의 연간 증감 비교가 부족합니다. 2025년 20대 유동은 2021년보다 작습니다.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0146D-BE87-4049-89D7-19E3C7A8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공간·가격 조건 우선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8B9CF-3FFF-474B-A15B-97816765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54292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C6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570A4-1F58-4B75-93B2-1200EA9B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성수역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E846A-5C75-4E63-9CAD-998FFB76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관측  의류 매출 +65.1%, 거래 +29.6%</a:t>
            </a:r>
          </a:p>
          <a:p xmlns:a="http://schemas.openxmlformats.org/drawingml/2006/main">
            <a: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가방 연간 증감 비교 자료 부족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C8D64-E369-488E-A608-7F5E3E59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반대 근거</a:t>
            </a:r>
          </a:p>
          <a:p xmlns:a="http://schemas.openxmlformats.org/drawingml/2006/main">
            <a: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20대 유동은 감소했습니다. 가방 연간 관측 근거가 없고 성수동 전체를 대표하지 않습니다.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AB7FF-86B3-439F-A988-5CA3B732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공간·가격 조건 우선 비교</a:t>
            </a:r>
          </a:p>
        </p:txBody>
      </p:sp>
    </p:spTree>
    <p:extLst>
      <p:ext uri="{BB962C8B-B14F-4D97-AF65-F5344CB8AC3E}">
        <p14:creationId xmlns:p14="http://schemas.microsoft.com/office/powerpoint/2010/main" val="1646343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A6775-F9D1-4359-A856-E0B44AD1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상권별 근거와 반대 근거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EDC9F-98F0-404A-81C3-83FE657E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CA8B1-176E-4D0D-964A-058CF2D8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매출·거래 변화는 기존 후보표의 2024~2025 비교. 단위 상권 코드 기준이며 주변 권역 전체를 대표하지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F8200-6E07-40EB-AC79-033406C1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31 / 36   09_상품전개_판단근거.csv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267F9-5970-44C8-ABE7-E4998AF3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54292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C6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5D285-B724-4A53-AF98-877950F0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명동거리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78F82-F1EF-4814-A590-1233C52E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관측  의류 매출 +16.7%, 거래 -11.7%</a:t>
            </a:r>
          </a:p>
          <a:p xmlns:a="http://schemas.openxmlformats.org/drawingml/2006/main">
            <a: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가방 매출 -4.3% / 거래 +8.2%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BE750-D4BC-4B97-B612-C7511E32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반대 근거</a:t>
            </a:r>
          </a:p>
          <a:p xmlns:a="http://schemas.openxmlformats.org/drawingml/2006/main">
            <a: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의류 거래건수와 가방 매출은 감소했습니다. 유동 증가가 구매 증가를 뜻하지 않습니다.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DE1A9-D4FF-4284-A89B-B54B6A61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구매 감소 원인 확인 후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BF024-2712-41D6-B6AE-1A337B29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54292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C6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D5AEA-D92D-4863-93F0-A1DFFCFD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가로수길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44232-2C5A-44EB-B29C-78C69C51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관측  의류 매출 +14.1%, 거래 +9.7%</a:t>
            </a:r>
          </a:p>
          <a:p xmlns:a="http://schemas.openxmlformats.org/drawingml/2006/main">
            <a: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가방 연간 증감 비교 자료 부족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89B8D-92D9-443F-ACAA-ABA4C512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반대 근거</a:t>
            </a:r>
          </a:p>
          <a:p xmlns:a="http://schemas.openxmlformats.org/drawingml/2006/main">
            <a: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20대 유동이 네 분기 모두 감소했습니다. 청년층 복귀로 설명하면 안 됩니다. 가방 2025Q4 자료가 부족합니다.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2EFDA-ECA9-4BFB-BB0B-C012989F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공간·가격 조건 우선 비교</a:t>
            </a:r>
          </a:p>
        </p:txBody>
      </p:sp>
    </p:spTree>
    <p:extLst>
      <p:ext uri="{BB962C8B-B14F-4D97-AF65-F5344CB8AC3E}">
        <p14:creationId xmlns:p14="http://schemas.microsoft.com/office/powerpoint/2010/main" val="133889618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BDA04-0D53-4BA4-A6AD-63973A01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상권별 근거와 반대 근거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6D495-55D0-4BA9-B6D3-1DE653EF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73D91-8B63-4281-A221-BCAB7222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매출·거래 변화는 기존 후보표의 2024~2025 비교. 단위 상권 코드 기준이며 주변 권역 전체를 대표하지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3FEB2-A5DB-42E2-8B61-25677F5C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32 / 36   09_상품전개_판단근거.csv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70606-50F8-4BAC-A668-6A90284D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54292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C6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99671-C42A-492A-A947-6CC140A3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혜화동주민센터 상권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2BE92-9D57-403D-B1FC-E19D92D8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관측  의류 매출 +3.4%, 거래 +18.1%</a:t>
            </a:r>
          </a:p>
          <a:p xmlns:a="http://schemas.openxmlformats.org/drawingml/2006/main">
            <a: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가방 연간 증감 비교 자료 부족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5254E-5A49-4CAD-8441-BCDC7C13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반대 근거</a:t>
            </a:r>
          </a:p>
          <a:p xmlns:a="http://schemas.openxmlformats.org/drawingml/2006/main">
            <a: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의류 매출 규모가 작고 최대 소비연령은 50대입니다. 청년 방문객의 프리미엄 구매는 미확인입니다.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33526-6084-4686-94EB-41929359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성장 조사 유지 · 품목 결정 유보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528BC-8720-46B4-88E5-088DF981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54292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C6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95A58-4E8C-474D-AFF0-8DE00894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한강로동 땡땡거리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E6D83-D555-4FAE-95E2-81975E91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관측  의류 연간 증감 비교 자료 부족</a:t>
            </a:r>
          </a:p>
          <a:p xmlns:a="http://schemas.openxmlformats.org/drawingml/2006/main">
            <a:pPr>
              <a:def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가방 연간 증감 비교 자료 부족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436B5-C4ED-40D9-B976-FC142687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반대 근거</a:t>
            </a:r>
          </a:p>
          <a:p xmlns:a="http://schemas.openxmlformats.org/drawingml/2006/main">
            <a:pPr>
              <a:def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의류·가방 직접 매출 근거가 부족합니다. 커피 소비는 감소했습니다. 경쟁 브랜드 공백은 미확인입니다.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0FE1D-4625-4DC7-8DFA-2E3A809A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성장 조사 유지 · 품목 결정 유보</a:t>
            </a:r>
          </a:p>
        </p:txBody>
      </p:sp>
    </p:spTree>
    <p:extLst>
      <p:ext uri="{BB962C8B-B14F-4D97-AF65-F5344CB8AC3E}">
        <p14:creationId xmlns:p14="http://schemas.microsoft.com/office/powerpoint/2010/main" val="194418033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D89E7-B82E-47F5-ABAF-9807B363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회복 판정은 매출·유동을 함께 확인합니다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0B185-6DCA-4E3D-AF47-D054AD0C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ECDDD-0AA5-4ACF-91CA-DE25C6B9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20분기 완비·과거 감소·최근 매출 및 유동 성장·각 3/4분기 증가를 함께 봅니다. 기준 강도에 따라 판정이 달라집니다.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D62E9-B641-4DC5-A4AD-8112E4AD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33 / 36   05_후보별_회복재검산.csv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AD24A-41E8-4EB7-90BA-F398B2560739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2209800"/>
                <a:gridCol w="2209800"/>
                <a:gridCol w="2209800"/>
                <a:gridCol w="2209800"/>
              </a:tblGrid>
              <a:tr h="55789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 분기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 변화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유동 변화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한강진역 3번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+23.3%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+21.0%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매출·유동 동반 회복 신호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성수역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+65.1%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-2.4%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 회복·유동 미충족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명동거리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+16.7%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+4.0%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동반 회복 기준 미충족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가로수길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+14.1%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-7.4%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 회복·유동 미충족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혜화동주민센터 상권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+3.4%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+31.9%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매출·유동 동반 회복 신호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한강로동 땡땡거리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부족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부족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장기 비교 자료 부족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411627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B62B9-AC71-4130-8549-2D5D083B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상권별 스타일 구성은 실행 전 비교안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DFA76-C91B-4DCA-B1C5-D5677A5E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46337-02D6-440C-A294-A456D494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매출 비중을 스타일 수로 환산한 결과가 아닙니다. 10평 미만에서 20스타일 수용 여부도 미확인.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F84E8-E244-4C6A-88EA-D001A30F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34 / 36   서울 패션상권 분석 · 상세 결과보고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7164F-21FE-4563-BA14-E360E00CD913}"/>
              </a:ext>
            </a:extLst>
          </p:cNvPr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</a:tblGrid>
              <a:tr h="9763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구성 예시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E303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조건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T w="9525">
                      <a:solidFill>
                        <a:srgbClr val="56758B"/>
                      </a:solidFill>
                      <a:prstDash val="solid"/>
                    </a:lnT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AACFE8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한강진·성수·가로수길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12 / 가방 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균형안 대비 타당성 미검증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명동거리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의류 10 / 가방 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거래 감소 원인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263F51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혜화·땡땡거리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56758B"/>
                      </a:solidFill>
                      <a:prstDash val="solid"/>
                    </a:lnL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품목·비율 미확정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EDF5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가방 단독 우위 직접 근거 부족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56758B"/>
                      </a:solidFill>
                      <a:prstDash val="solid"/>
                    </a:lnR>
                    <a:lnB w="9525">
                      <a:solidFill>
                        <a:srgbClr val="56758B"/>
                      </a:solidFill>
                      <a:prstDash val="solid"/>
                    </a:lnB>
                    <a:solidFill>
                      <a:srgbClr val="304C6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82125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637AF-33B1-45C5-ACE6-D70AA167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진입 판단을 좁히기 위한 다음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50178-B2C9-4B2C-9BE6-46194233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05351-86C1-45CB-8802-BCB3E700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실제 판매 실험은 현재 불가. 기존 상권 자료만으로 수익성·브랜드 매출을 확정하지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4B788-6154-4931-8FEB-C69BAAA0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35 / 36   서울 패션상권 분석 · 상세 결과보고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5A4E2-B0B6-40C5-9417-562BE35E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핵심 4곳: 공간 비용·진열 가능 스타일 수 비교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40DAB-E313-40D7-B68F-189EE0ED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조사 2곳: 실제 패션 구매와 가격 수용성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E50F4-90A1-4DF0-B7C0-2A46C4F2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구성안: 의류 중심·균형·단일 품목안을 근거로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72D4E-F2E1-4177-9DBB-077D02E1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임대·제작 확정: 자체 원가·마진·수요 정보 확보 후 판단</a:t>
            </a:r>
          </a:p>
        </p:txBody>
      </p:sp>
    </p:spTree>
    <p:extLst>
      <p:ext uri="{BB962C8B-B14F-4D97-AF65-F5344CB8AC3E}">
        <p14:creationId xmlns:p14="http://schemas.microsoft.com/office/powerpoint/2010/main" val="205038837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E30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9920A-B7CB-4A79-9CE0-59BA33B9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출처·한계·최종 결론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00CF6-9840-4548-AD8F-A25D8D6B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5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20326-C205-4E8C-B506-C0FAF9A1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상세 표와 검증 기록은 EDA·모델링 보고서 및 프로젝트 근거자료 폴더에 보존합니다.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E605F-2AD0-4E77-A2D3-C0E8BEE4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3D2DD"/>
                </a:solidFill>
                <a:latin typeface="Malgun Gothic"/>
                <a:ea typeface="Malgun Gothic"/>
                <a:cs typeface="Malgun Gothic"/>
              </a:rPr>
              <a:t>36 / 36   서울 패션상권 분석 · 상세 결과보고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CC1A8-CF74-47BA-9986-2E3FADBB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8DCF3"/>
                </a:solidFill>
                <a:latin typeface="Malgun Gothic"/>
                <a:ea typeface="Malgun Gothic"/>
                <a:cs typeface="Malgun Gothic"/>
              </a:rPr>
              <a:t>서울시 상권분석서비스 보유 자료, 2021~2025년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4D9A4-47D9-4350-9CAD-371FE825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추정·명목매출, 과거 상권 경계 동일성 미확인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24187-6542-42BC-9773-94FC2903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관측 자료 부족을 수요 없음이나 경쟁 공백으로 해석하지 않음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63374-2DAB-4DD0-81E8-F63FE759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EDF5FA"/>
                </a:solidFill>
                <a:latin typeface="Malgun Gothic"/>
                <a:ea typeface="Malgun Gothic"/>
                <a:cs typeface="Malgun Gothic"/>
              </a:rPr>
              <a:t>EDA로 후보를 비교하고, 모델 한계와 기획 가설을 명시</a:t>
            </a:r>
          </a:p>
        </p:txBody>
      </p:sp>
    </p:spTree>
    <p:extLst>
      <p:ext uri="{BB962C8B-B14F-4D97-AF65-F5344CB8AC3E}">
        <p14:creationId xmlns:p14="http://schemas.microsoft.com/office/powerpoint/2010/main" val="1270830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2026-10-23T04:11:48.8690000Z</dcterms:created>
  <dcterms:modified xsi:type="dcterms:W3CDTF">2026-10-23T04:11:48.8700000Z</dcterms:modified>
</coreProperties>
</file>